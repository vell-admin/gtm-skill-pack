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1A04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8288001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723801"/>
            <a:ext cx="176275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3E2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RON DAVIS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287831" y="723801"/>
            <a:ext cx="304099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Marketplace GTM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3543267"/>
            <a:ext cx="16678276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29" kern="0" dirty="0">
                <a:solidFill>
                  <a:srgbClr val="F3E2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6 · MULTIPLY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47750" y="4157100"/>
            <a:ext cx="14225589" cy="1242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300" b="1" spc="-27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AWS sell with you.</a:t>
            </a:r>
            <a:endParaRPr lang="en-US" sz="9300" dirty="0"/>
          </a:p>
        </p:txBody>
      </p:sp>
      <p:sp>
        <p:nvSpPr>
          <p:cNvPr id="8" name="Text 5"/>
          <p:cNvSpPr/>
          <p:nvPr/>
        </p:nvSpPr>
        <p:spPr>
          <a:xfrm>
            <a:off x="1047750" y="5723434"/>
            <a:ext cx="1157668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D9C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AWS account team is a force multiplier — if you frame to their incentive. Today we draft the outreach and register the ACE opportunity, live.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1047750" y="9103982"/>
            <a:ext cx="16192501" cy="10583"/>
          </a:xfrm>
          <a:prstGeom prst="rect">
            <a:avLst/>
          </a:prstGeom>
          <a:solidFill>
            <a:srgbClr val="F3E2FD">
              <a:alpha val="2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47750" y="9391717"/>
            <a:ext cx="334485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GTM Coaching · Ron Davis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022917" y="9381133"/>
            <a:ext cx="331385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listed to bought.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501830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6 · HOW REPS THINK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Reps don’t care about your features.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AWS seller is measured on customer outcomes and AWS consumption. Frame to that, and you become a tool that helps them hit quota.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 to your product, and you’re noise.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577167"/>
            <a:ext cx="7981984" cy="2283520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3587750"/>
            <a:ext cx="28443" cy="22623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3930551"/>
            <a:ext cx="741478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THEY’RE MEASURED 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4360168"/>
            <a:ext cx="741478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outcomes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4844852"/>
            <a:ext cx="7414781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the customer succeed and grow on AWS? Your value is the outcome you create for their account.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58267" y="3577167"/>
            <a:ext cx="7981984" cy="2283520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68851" y="3587750"/>
            <a:ext cx="28443" cy="22623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9649851" y="3930551"/>
            <a:ext cx="741478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THEY’RE MEASURED 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49851" y="4360168"/>
            <a:ext cx="741478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Consumption revenue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49851" y="4844852"/>
            <a:ext cx="7414781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Committed (EDP/MACC) and usage growth. Show how you drive AWS spend and you’re suddenly worth their time.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6279720"/>
            <a:ext cx="16192501" cy="2386211"/>
          </a:xfrm>
          <a:prstGeom prst="roundRect">
            <a:avLst>
              <a:gd name="adj" fmla="val 4790"/>
            </a:avLst>
          </a:prstGeom>
          <a:solidFill>
            <a:srgbClr val="F3E2FD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7750" y="6279720"/>
            <a:ext cx="28443" cy="2386211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8" name="Text 16"/>
          <p:cNvSpPr/>
          <p:nvPr/>
        </p:nvSpPr>
        <p:spPr>
          <a:xfrm>
            <a:off x="1504818" y="6641538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REFRAME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4818" y="7052138"/>
            <a:ext cx="15736716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“Here’s how I help your customer win and grow their AWS consumption” — that’s the only pitch a rep hears.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504818" y="7972888"/>
            <a:ext cx="1573671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 every feature into their scorecard before you reach out.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366727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6 · THE 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you’re actually writing to.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“AWS” isn’t one person. Five roles touch a co-sell deal, each with a different job. Knowing who does what tells you who to message and what to ask for.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5834063"/>
            <a:ext cx="3086034" cy="2831869"/>
          </a:xfrm>
          <a:prstGeom prst="roundRect">
            <a:avLst>
              <a:gd name="adj" fmla="val 4036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4901" y="6130396"/>
            <a:ext cx="260793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4901" y="6560014"/>
            <a:ext cx="2607932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rep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24901" y="7044697"/>
            <a:ext cx="2607932" cy="1363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the customer relationship and the quota. Your primary door.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24284" y="5834063"/>
            <a:ext cx="3086034" cy="2831869"/>
          </a:xfrm>
          <a:prstGeom prst="roundRect">
            <a:avLst>
              <a:gd name="adj" fmla="val 4036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1435" y="6130396"/>
            <a:ext cx="260793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PDM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01435" y="6560014"/>
            <a:ext cx="2607932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Dev Mgr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01435" y="7044697"/>
            <a:ext cx="2607932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the partner relationship — your advocate inside AWS.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00818" y="5834063"/>
            <a:ext cx="3086199" cy="2831869"/>
          </a:xfrm>
          <a:prstGeom prst="roundRect">
            <a:avLst>
              <a:gd name="adj" fmla="val 4036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77969" y="6130396"/>
            <a:ext cx="260809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PSA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77969" y="6560014"/>
            <a:ext cx="2608097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Solutions Arch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877969" y="7044697"/>
            <a:ext cx="2608097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the technical fit; can unblock or stall a deal.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877517" y="5834063"/>
            <a:ext cx="3086034" cy="2831869"/>
          </a:xfrm>
          <a:prstGeom prst="roundRect">
            <a:avLst>
              <a:gd name="adj" fmla="val 4036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4668" y="6130396"/>
            <a:ext cx="260793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154668" y="6560014"/>
            <a:ext cx="2607932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team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154668" y="7044697"/>
            <a:ext cx="2607932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Programs, competencies, co-sell mechanics and funding.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4154051" y="5834063"/>
            <a:ext cx="3086199" cy="2831869"/>
          </a:xfrm>
          <a:prstGeom prst="roundRect">
            <a:avLst>
              <a:gd name="adj" fmla="val 4036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31203" y="6130396"/>
            <a:ext cx="260809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431203" y="6560014"/>
            <a:ext cx="2608097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4431203" y="7044697"/>
            <a:ext cx="2608097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shared account you both serve — the reason to align.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82532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6 · WHERE YOU ARE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starting position.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right move depends on the relationship you already have with the AWS field. We mark where you actually are —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sets the ask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6088228"/>
            <a:ext cx="5245034" cy="2577703"/>
          </a:xfrm>
          <a:prstGeom prst="roundRect">
            <a:avLst>
              <a:gd name="adj" fmla="val 4434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39333" y="6441612"/>
            <a:ext cx="4595724" cy="590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</a:t>
            </a:r>
            <a:endParaRPr lang="en-US" sz="4350" dirty="0"/>
          </a:p>
        </p:txBody>
      </p:sp>
      <p:sp>
        <p:nvSpPr>
          <p:cNvPr id="8" name="Text 6"/>
          <p:cNvSpPr/>
          <p:nvPr/>
        </p:nvSpPr>
        <p:spPr>
          <a:xfrm>
            <a:off x="1439333" y="7165413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relationship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39333" y="7650097"/>
            <a:ext cx="459572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Cold. The play is a warm, outcome-led intro and one specific shared account.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21318" y="6088228"/>
            <a:ext cx="5245200" cy="2577703"/>
          </a:xfrm>
          <a:prstGeom prst="roundRect">
            <a:avLst>
              <a:gd name="adj" fmla="val 4434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12901" y="6441612"/>
            <a:ext cx="4595894" cy="590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4350" dirty="0"/>
          </a:p>
        </p:txBody>
      </p:sp>
      <p:sp>
        <p:nvSpPr>
          <p:cNvPr id="12" name="Text 10"/>
          <p:cNvSpPr/>
          <p:nvPr/>
        </p:nvSpPr>
        <p:spPr>
          <a:xfrm>
            <a:off x="6912901" y="7165413"/>
            <a:ext cx="459589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912901" y="7650097"/>
            <a:ext cx="459589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know a PDM or rep. The play is to bring a real opportunity to register.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995052" y="6088228"/>
            <a:ext cx="5245034" cy="2577703"/>
          </a:xfrm>
          <a:prstGeom prst="roundRect">
            <a:avLst>
              <a:gd name="adj" fmla="val 4434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86635" y="6441612"/>
            <a:ext cx="4595724" cy="590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4350" dirty="0"/>
          </a:p>
        </p:txBody>
      </p:sp>
      <p:sp>
        <p:nvSpPr>
          <p:cNvPr id="16" name="Text 14"/>
          <p:cNvSpPr/>
          <p:nvPr/>
        </p:nvSpPr>
        <p:spPr>
          <a:xfrm>
            <a:off x="12386635" y="7165413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opp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386635" y="7650097"/>
            <a:ext cx="459572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deal’s in motion. The play is to formalize it in ACE and align the close.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43919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6 · THE MESSAGE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≤120-word message.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rep’s inbox is full. The message that gets a reply is short, leads with their customer’s outcome, makes one ask, and offers an easy next step.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725664"/>
            <a:ext cx="16192501" cy="4940267"/>
          </a:xfrm>
          <a:prstGeom prst="roundRect">
            <a:avLst>
              <a:gd name="adj" fmla="val 2314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15401" y="5150115"/>
            <a:ext cx="15257199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8" name="Shape 6"/>
          <p:cNvSpPr/>
          <p:nvPr/>
        </p:nvSpPr>
        <p:spPr>
          <a:xfrm>
            <a:off x="1515401" y="4284431"/>
            <a:ext cx="15257199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9" name="Text 7"/>
          <p:cNvSpPr/>
          <p:nvPr/>
        </p:nvSpPr>
        <p:spPr>
          <a:xfrm>
            <a:off x="1591469" y="4542565"/>
            <a:ext cx="2552700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· Context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448969" y="4542565"/>
            <a:ext cx="12614990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Who you are and the one shared customer or segment — in a sentence.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515401" y="6375797"/>
            <a:ext cx="15257199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2" name="Text 10"/>
          <p:cNvSpPr/>
          <p:nvPr/>
        </p:nvSpPr>
        <p:spPr>
          <a:xfrm>
            <a:off x="1591469" y="5408249"/>
            <a:ext cx="2552700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· Outcome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448969" y="5408249"/>
            <a:ext cx="12614990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result you create for their account — in their scorecard terms (outcome + AWS consumption).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515401" y="7241481"/>
            <a:ext cx="15257199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1591469" y="6633931"/>
            <a:ext cx="2552700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· The ask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448969" y="6633931"/>
            <a:ext cx="12614990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specific thing — an intro, a co-sell on account X, a 15-min call.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591469" y="7499615"/>
            <a:ext cx="2552700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· Next step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448969" y="7499615"/>
            <a:ext cx="12614990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no-friction yes — “I’ve drafted the ACE opp; want me to submit it?”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733438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6 · LIVE BUILD · YOUR OUTREACH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your outreach now.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write your real message to a real role — to the rep, PDM, or SA you can actually reach — using the four-part frame, on your shared account.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4923400"/>
            <a:ext cx="4572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4461040"/>
            <a:ext cx="444246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19750" y="4923400"/>
            <a:ext cx="116205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9" name="Text 7"/>
          <p:cNvSpPr/>
          <p:nvPr/>
        </p:nvSpPr>
        <p:spPr>
          <a:xfrm>
            <a:off x="5619750" y="4461040"/>
            <a:ext cx="11702415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DRAFT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5673824"/>
            <a:ext cx="4572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5134008"/>
            <a:ext cx="4442460" cy="37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(role)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5619750" y="5673824"/>
            <a:ext cx="11620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3" name="Shape 11"/>
          <p:cNvSpPr/>
          <p:nvPr/>
        </p:nvSpPr>
        <p:spPr>
          <a:xfrm>
            <a:off x="5619750" y="5390555"/>
            <a:ext cx="6096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7750" y="6424249"/>
            <a:ext cx="4572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5884433"/>
            <a:ext cx="4442460" cy="37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5619750" y="6424249"/>
            <a:ext cx="11620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619750" y="6140980"/>
            <a:ext cx="6096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7750" y="7174673"/>
            <a:ext cx="4572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6634857"/>
            <a:ext cx="4442460" cy="37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outcome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5619750" y="7174673"/>
            <a:ext cx="11620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619750" y="6891404"/>
            <a:ext cx="6096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7385282"/>
            <a:ext cx="4442460" cy="383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 + next step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5619750" y="7641829"/>
            <a:ext cx="6096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849243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6 · LIVE BUILD · THE ACE OPPORTUNITY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ACE opportunity summary.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artifact that makes co-sell real — a paste-ready opportunity for ACE. We fill every field so it’s ready to register,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“someday.”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4548188"/>
            <a:ext cx="5334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4085828"/>
            <a:ext cx="522732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FIELD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81751" y="4548188"/>
            <a:ext cx="108585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9" name="Text 7"/>
          <p:cNvSpPr/>
          <p:nvPr/>
        </p:nvSpPr>
        <p:spPr>
          <a:xfrm>
            <a:off x="6381751" y="4085828"/>
            <a:ext cx="10917555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ENTRY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5298612"/>
            <a:ext cx="5334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758796"/>
            <a:ext cx="5227320" cy="37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6381751" y="5298612"/>
            <a:ext cx="10858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3" name="Shape 11"/>
          <p:cNvSpPr/>
          <p:nvPr/>
        </p:nvSpPr>
        <p:spPr>
          <a:xfrm>
            <a:off x="6381751" y="5015343"/>
            <a:ext cx="6096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7750" y="6049037"/>
            <a:ext cx="5334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5509221"/>
            <a:ext cx="5227320" cy="37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case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6381751" y="6049037"/>
            <a:ext cx="10858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7" name="Shape 15"/>
          <p:cNvSpPr/>
          <p:nvPr/>
        </p:nvSpPr>
        <p:spPr>
          <a:xfrm>
            <a:off x="6381751" y="5765767"/>
            <a:ext cx="6096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7750" y="6799461"/>
            <a:ext cx="5334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6259645"/>
            <a:ext cx="5227320" cy="37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to customer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6381751" y="6799461"/>
            <a:ext cx="10858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1" name="Shape 19"/>
          <p:cNvSpPr/>
          <p:nvPr/>
        </p:nvSpPr>
        <p:spPr>
          <a:xfrm>
            <a:off x="6381751" y="6516192"/>
            <a:ext cx="6096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7750" y="7549886"/>
            <a:ext cx="5334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7010070"/>
            <a:ext cx="5227320" cy="37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consumption impact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6381751" y="7549886"/>
            <a:ext cx="10858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1751" y="7266616"/>
            <a:ext cx="6096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" y="7760494"/>
            <a:ext cx="5227320" cy="383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/ next step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6381751" y="8017041"/>
            <a:ext cx="6096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28" name="Shape 26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9" name="Text 27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82532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6 · THE FOLLOW-UP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5-day follow-up.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message rarely lands a busy rep. A short, value-adding cadence — not nagging — is what turns a cold note into a co-sell conversation.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4072434"/>
            <a:ext cx="2286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3610074"/>
            <a:ext cx="209550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33750" y="4072434"/>
            <a:ext cx="6096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9" name="Text 7"/>
          <p:cNvSpPr/>
          <p:nvPr/>
        </p:nvSpPr>
        <p:spPr>
          <a:xfrm>
            <a:off x="3333750" y="3610074"/>
            <a:ext cx="601218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429751" y="4072434"/>
            <a:ext cx="7810501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11" name="Text 9"/>
          <p:cNvSpPr/>
          <p:nvPr/>
        </p:nvSpPr>
        <p:spPr>
          <a:xfrm>
            <a:off x="9429751" y="3610074"/>
            <a:ext cx="7778116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IT WORKS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4804337"/>
            <a:ext cx="228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4283042"/>
            <a:ext cx="209550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 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33750" y="4804337"/>
            <a:ext cx="609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3333750" y="4283042"/>
            <a:ext cx="601218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the outreach message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429751" y="4804337"/>
            <a:ext cx="7810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7" name="Text 15"/>
          <p:cNvSpPr/>
          <p:nvPr/>
        </p:nvSpPr>
        <p:spPr>
          <a:xfrm>
            <a:off x="9429751" y="4283042"/>
            <a:ext cx="7778116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Short, outcome-led, one clear ask.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047750" y="5536241"/>
            <a:ext cx="228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5014946"/>
            <a:ext cx="209550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 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333750" y="5536241"/>
            <a:ext cx="609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1" name="Text 19"/>
          <p:cNvSpPr/>
          <p:nvPr/>
        </p:nvSpPr>
        <p:spPr>
          <a:xfrm>
            <a:off x="3333750" y="5014946"/>
            <a:ext cx="601218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value, don’t “bump”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9429751" y="5536241"/>
            <a:ext cx="7810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3" name="Text 21"/>
          <p:cNvSpPr/>
          <p:nvPr/>
        </p:nvSpPr>
        <p:spPr>
          <a:xfrm>
            <a:off x="9429751" y="5014946"/>
            <a:ext cx="7778116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the ACE draft or a relevant proof point — give, don’t chase.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47750" y="5746849"/>
            <a:ext cx="2095500" cy="36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 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333750" y="5746849"/>
            <a:ext cx="6012180" cy="36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yes effortless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9429751" y="5746849"/>
            <a:ext cx="7778116" cy="36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“Want me to submit the opp and tag you?” — a one-word approval.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750" y="6692471"/>
            <a:ext cx="16192501" cy="1973461"/>
          </a:xfrm>
          <a:prstGeom prst="roundRect">
            <a:avLst>
              <a:gd name="adj" fmla="val 5792"/>
            </a:avLst>
          </a:prstGeom>
          <a:solidFill>
            <a:srgbClr val="F3E2FD"/>
          </a:solidFill>
          <a:ln/>
        </p:spPr>
      </p:sp>
      <p:sp>
        <p:nvSpPr>
          <p:cNvPr id="28" name="Shape 26"/>
          <p:cNvSpPr/>
          <p:nvPr/>
        </p:nvSpPr>
        <p:spPr>
          <a:xfrm>
            <a:off x="1047750" y="6692471"/>
            <a:ext cx="28443" cy="1973461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29" name="Text 27"/>
          <p:cNvSpPr/>
          <p:nvPr/>
        </p:nvSpPr>
        <p:spPr>
          <a:xfrm>
            <a:off x="1504818" y="7054288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PRINCIPLE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04818" y="7464889"/>
            <a:ext cx="1573671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follow-up adds value or it doesn’t get sent.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1504818" y="7972888"/>
            <a:ext cx="1573671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Reps remember partners who make them look good — not partners who poke their inbox.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3" name="Text 31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2462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6 · GRADUATION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sessions. Six live artifacts.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at what’s now load-bearing in your GTM — built with you, living in your accounts, plus the scoreboard you keep updating.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725664"/>
            <a:ext cx="5245034" cy="2429537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3736248"/>
            <a:ext cx="28443" cy="2408370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4079048"/>
            <a:ext cx="464807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S1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4695858" y="4146848"/>
            <a:ext cx="1205342" cy="351234"/>
          </a:xfrm>
          <a:prstGeom prst="roundRect">
            <a:avLst>
              <a:gd name="adj" fmla="val 16271"/>
            </a:avLst>
          </a:prstGeom>
          <a:solidFill>
            <a:srgbClr val="F3E2FD"/>
          </a:solidFill>
          <a:ln/>
        </p:spPr>
      </p:sp>
      <p:sp>
        <p:nvSpPr>
          <p:cNvPr id="10" name="Text 8"/>
          <p:cNvSpPr/>
          <p:nvPr/>
        </p:nvSpPr>
        <p:spPr>
          <a:xfrm>
            <a:off x="4848258" y="4184948"/>
            <a:ext cx="976742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39333" y="4654682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Scored diagnostic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39333" y="5139366"/>
            <a:ext cx="459572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leak named + your 6-week scoreboard.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21318" y="3725664"/>
            <a:ext cx="5245200" cy="2429537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1901" y="3736248"/>
            <a:ext cx="28443" cy="2408370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5" name="Text 13"/>
          <p:cNvSpPr/>
          <p:nvPr/>
        </p:nvSpPr>
        <p:spPr>
          <a:xfrm>
            <a:off x="6912901" y="4079048"/>
            <a:ext cx="464807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S2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0169592" y="4146848"/>
            <a:ext cx="1205342" cy="351234"/>
          </a:xfrm>
          <a:prstGeom prst="roundRect">
            <a:avLst>
              <a:gd name="adj" fmla="val 16271"/>
            </a:avLst>
          </a:prstGeom>
          <a:solidFill>
            <a:srgbClr val="F3E2FD"/>
          </a:solidFill>
          <a:ln/>
        </p:spPr>
      </p:sp>
      <p:sp>
        <p:nvSpPr>
          <p:cNvPr id="17" name="Text 15"/>
          <p:cNvSpPr/>
          <p:nvPr/>
        </p:nvSpPr>
        <p:spPr>
          <a:xfrm>
            <a:off x="10321992" y="4184948"/>
            <a:ext cx="976742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12901" y="4654682"/>
            <a:ext cx="459589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Rewritten listing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12901" y="5139366"/>
            <a:ext cx="459589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/ short / long + keywords, live in AWS MP.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995052" y="3725664"/>
            <a:ext cx="5245034" cy="2429537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05635" y="3736248"/>
            <a:ext cx="28443" cy="2408370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22" name="Text 20"/>
          <p:cNvSpPr/>
          <p:nvPr/>
        </p:nvSpPr>
        <p:spPr>
          <a:xfrm>
            <a:off x="12386635" y="4079048"/>
            <a:ext cx="464807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S3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5643159" y="4146848"/>
            <a:ext cx="1205342" cy="351234"/>
          </a:xfrm>
          <a:prstGeom prst="roundRect">
            <a:avLst>
              <a:gd name="adj" fmla="val 16271"/>
            </a:avLst>
          </a:prstGeom>
          <a:solidFill>
            <a:srgbClr val="F3E2FD"/>
          </a:solidFill>
          <a:ln/>
        </p:spPr>
      </p:sp>
      <p:sp>
        <p:nvSpPr>
          <p:cNvPr id="24" name="Text 22"/>
          <p:cNvSpPr/>
          <p:nvPr/>
        </p:nvSpPr>
        <p:spPr>
          <a:xfrm>
            <a:off x="15795559" y="4184948"/>
            <a:ext cx="976742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Shipped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86635" y="4654682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story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2386635" y="5139366"/>
            <a:ext cx="459572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3-tier ladder + narrative on your pricing page.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47750" y="6383735"/>
            <a:ext cx="5245034" cy="2429537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8333" y="6394318"/>
            <a:ext cx="28443" cy="2408370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29" name="Text 27"/>
          <p:cNvSpPr/>
          <p:nvPr/>
        </p:nvSpPr>
        <p:spPr>
          <a:xfrm>
            <a:off x="1439333" y="6737119"/>
            <a:ext cx="464807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S4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4695858" y="6804918"/>
            <a:ext cx="1205342" cy="351234"/>
          </a:xfrm>
          <a:prstGeom prst="roundRect">
            <a:avLst>
              <a:gd name="adj" fmla="val 16271"/>
            </a:avLst>
          </a:prstGeom>
          <a:solidFill>
            <a:srgbClr val="F3E2FD"/>
          </a:solidFill>
          <a:ln/>
        </p:spPr>
      </p:sp>
      <p:sp>
        <p:nvSpPr>
          <p:cNvPr id="31" name="Text 29"/>
          <p:cNvSpPr/>
          <p:nvPr/>
        </p:nvSpPr>
        <p:spPr>
          <a:xfrm>
            <a:off x="4848258" y="6843018"/>
            <a:ext cx="976742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Shipped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39333" y="7312753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Agent-ready fixes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439333" y="7797437"/>
            <a:ext cx="459572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Machine-legible statement + ordered checklist applied.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521318" y="6383735"/>
            <a:ext cx="5245200" cy="2429537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31901" y="6394318"/>
            <a:ext cx="28443" cy="2408370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36" name="Text 34"/>
          <p:cNvSpPr/>
          <p:nvPr/>
        </p:nvSpPr>
        <p:spPr>
          <a:xfrm>
            <a:off x="6912901" y="6737119"/>
            <a:ext cx="464807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S5</a:t>
            </a:r>
            <a:endParaRPr lang="en-US" sz="2550" dirty="0"/>
          </a:p>
        </p:txBody>
      </p:sp>
      <p:sp>
        <p:nvSpPr>
          <p:cNvPr id="37" name="Shape 35"/>
          <p:cNvSpPr/>
          <p:nvPr/>
        </p:nvSpPr>
        <p:spPr>
          <a:xfrm>
            <a:off x="10169592" y="6804918"/>
            <a:ext cx="1205342" cy="351234"/>
          </a:xfrm>
          <a:prstGeom prst="roundRect">
            <a:avLst>
              <a:gd name="adj" fmla="val 16271"/>
            </a:avLst>
          </a:prstGeom>
          <a:solidFill>
            <a:srgbClr val="F3E2FD"/>
          </a:solidFill>
          <a:ln/>
        </p:spPr>
      </p:sp>
      <p:sp>
        <p:nvSpPr>
          <p:cNvPr id="38" name="Text 36"/>
          <p:cNvSpPr/>
          <p:nvPr/>
        </p:nvSpPr>
        <p:spPr>
          <a:xfrm>
            <a:off x="10321992" y="6843018"/>
            <a:ext cx="976742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Shipped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912901" y="7312753"/>
            <a:ext cx="459589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4-week campaign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6912901" y="7797437"/>
            <a:ext cx="459589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+ hooks + email, scheduled and running.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1995052" y="6383735"/>
            <a:ext cx="5245034" cy="2429537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005635" y="6394318"/>
            <a:ext cx="28443" cy="2408370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43" name="Text 41"/>
          <p:cNvSpPr/>
          <p:nvPr/>
        </p:nvSpPr>
        <p:spPr>
          <a:xfrm>
            <a:off x="12386635" y="6737119"/>
            <a:ext cx="464807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S6</a:t>
            </a:r>
            <a:endParaRPr lang="en-US" sz="2550" dirty="0"/>
          </a:p>
        </p:txBody>
      </p:sp>
      <p:sp>
        <p:nvSpPr>
          <p:cNvPr id="44" name="Shape 42"/>
          <p:cNvSpPr/>
          <p:nvPr/>
        </p:nvSpPr>
        <p:spPr>
          <a:xfrm>
            <a:off x="15643159" y="6804918"/>
            <a:ext cx="1205342" cy="351234"/>
          </a:xfrm>
          <a:prstGeom prst="roundRect">
            <a:avLst>
              <a:gd name="adj" fmla="val 16271"/>
            </a:avLst>
          </a:prstGeom>
          <a:solidFill>
            <a:srgbClr val="F3E2FD"/>
          </a:solidFill>
          <a:ln/>
        </p:spPr>
      </p:sp>
      <p:sp>
        <p:nvSpPr>
          <p:cNvPr id="45" name="Text 43"/>
          <p:cNvSpPr/>
          <p:nvPr/>
        </p:nvSpPr>
        <p:spPr>
          <a:xfrm>
            <a:off x="15795559" y="6843018"/>
            <a:ext cx="976742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Shipped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386635" y="7312753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 opportunity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12386635" y="7797437"/>
            <a:ext cx="459572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Outreach sent + opportunity registered with AWS.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49" name="Text 47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43919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6 · WHAT’S NEXT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operator running.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leave with my brain installed in your stack and six artifacts now load-bearing in your GTM. The Skill Pack keeps producing — and when you want it run for you, you know where I am.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658692"/>
            <a:ext cx="798198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3669275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4012076"/>
            <a:ext cx="741478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 OWN 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4441693"/>
            <a:ext cx="741478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Re-run the Skill Pack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4926377"/>
            <a:ext cx="7414781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Listing rewrites, pricing, agent-readiness, campaigns, co-sell — any time, in your tool, on your product. Update the scoreboard when a number stalls.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58267" y="3658692"/>
            <a:ext cx="798198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68851" y="3669275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9649851" y="4012076"/>
            <a:ext cx="741478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WHEN YOU WANT DEPTH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49851" y="4441693"/>
            <a:ext cx="741478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Advisory, run for you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49851" y="4926377"/>
            <a:ext cx="7414781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 want volume or done-with-you execution, the advisory retainer is the next rung. Book a call.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6692471"/>
            <a:ext cx="16192501" cy="1973461"/>
          </a:xfrm>
          <a:prstGeom prst="roundRect">
            <a:avLst>
              <a:gd name="adj" fmla="val 5792"/>
            </a:avLst>
          </a:prstGeom>
          <a:solidFill>
            <a:srgbClr val="F3E2FD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7750" y="6692471"/>
            <a:ext cx="28443" cy="1973461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8" name="Text 16"/>
          <p:cNvSpPr/>
          <p:nvPr/>
        </p:nvSpPr>
        <p:spPr>
          <a:xfrm>
            <a:off x="1504818" y="7054288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RELATIONSHIP ENGINE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4818" y="7464889"/>
            <a:ext cx="1573671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output your operator produces carries one line: “Want this run for you? Book a call.”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504818" y="7972888"/>
            <a:ext cx="1573671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keep getting value. I stay in the room. From listed — to bought.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1A04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8288001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723801"/>
            <a:ext cx="176275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3E2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RON DAVIS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10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3287448"/>
            <a:ext cx="14716126" cy="112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250" b="1" spc="-24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8250" dirty="0"/>
          </a:p>
        </p:txBody>
      </p:sp>
      <p:sp>
        <p:nvSpPr>
          <p:cNvPr id="7" name="Text 4"/>
          <p:cNvSpPr/>
          <p:nvPr/>
        </p:nvSpPr>
        <p:spPr>
          <a:xfrm>
            <a:off x="1047750" y="4758035"/>
            <a:ext cx="1157668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D9C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artifacts live, the operator installed, and the AWS field selling with you. When you’re ready for the next rung — advisory, run for you — book the call.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6148586"/>
            <a:ext cx="5401138" cy="687917"/>
          </a:xfrm>
          <a:prstGeom prst="roundRect">
            <a:avLst>
              <a:gd name="adj" fmla="val 50000"/>
            </a:avLst>
          </a:prstGeom>
          <a:solidFill>
            <a:srgbClr val="F3E2FD"/>
          </a:solidFill>
          <a:ln/>
        </p:spPr>
      </p:sp>
      <p:sp>
        <p:nvSpPr>
          <p:cNvPr id="9" name="Text 6"/>
          <p:cNvSpPr/>
          <p:nvPr/>
        </p:nvSpPr>
        <p:spPr>
          <a:xfrm>
            <a:off x="1504950" y="6339086"/>
            <a:ext cx="4648772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0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calendly.com/itsrondavis · Book a call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1047750" y="9103982"/>
            <a:ext cx="16192501" cy="10583"/>
          </a:xfrm>
          <a:prstGeom prst="rect">
            <a:avLst/>
          </a:prstGeom>
          <a:solidFill>
            <a:srgbClr val="F3E2FD">
              <a:alpha val="2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47750" y="9391717"/>
            <a:ext cx="314335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95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GTM Coaching · Ron Davis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2026-06-09T20:30:28Z</dcterms:created>
  <dcterms:modified xsi:type="dcterms:W3CDTF">2026-06-09T20:30:28Z</dcterms:modified>
</cp:coreProperties>
</file>