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287831" y="723801"/>
            <a:ext cx="304099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Marketplace GTM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941009"/>
            <a:ext cx="1667827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29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 · GET BOUGHT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3554843"/>
            <a:ext cx="14225589" cy="2447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300" b="1" spc="-27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pricing story that survives procurement.</a:t>
            </a:r>
            <a:endParaRPr lang="en-US" sz="9300" dirty="0"/>
          </a:p>
        </p:txBody>
      </p:sp>
      <p:sp>
        <p:nvSpPr>
          <p:cNvPr id="8" name="Text 5"/>
          <p:cNvSpPr/>
          <p:nvPr/>
        </p:nvSpPr>
        <p:spPr>
          <a:xfrm>
            <a:off x="1047750" y="6325692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unit of value the buyer actually gets — then tell the story that makes it defensible when the deal hits a procurement review.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" y="9391717"/>
            <a:ext cx="334485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022917" y="9381133"/>
            <a:ext cx="331385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listed to bought.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4391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 · THE MISTAKE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teams price to their cost.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add up what it costs to build and run, sprinkle margin on top, and ship a number. The buyer doesn’t care what it cost you —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care what it’s worth to them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98991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400050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343301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COST-PLUS PRICING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772918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costs you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525760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+ headcount + margin. Internally logical, externally meaningless. Caps your price at your costs, not the buyer’s upside.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267" y="398991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68851" y="400050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49851" y="4343301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 PRICING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9851" y="4772918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it’s worth to them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49851" y="525760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Priced to the outcome the buyer captures. The number rises with their success, and the story writes itself.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REFRAME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price is a claim about the buyer’s outcome — make it one they’d defend internally.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champion has to justify the spend to finance, your pricing story is the argument they reuse.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540425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 · THE VALUE METRIC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thing that scales with their success.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value metric is the unit you charge by — and the right one goes up only when the buyer is winning. Pick wrong and you punish your best customers or leave money on weak ones.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493577"/>
            <a:ext cx="524503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5504161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5846961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6276579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tracks the outcome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6761262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your effort — seats used, GB processed, deals closed, spend optimized.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5493577"/>
            <a:ext cx="5245200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5504161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5846961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TWO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6276579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It’s legible before purchase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6761262"/>
            <a:ext cx="459589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buyer can estimate their bill without a sales call.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5493577"/>
            <a:ext cx="524503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5504161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5846961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THREE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6276579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grows with value, not friction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6761262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Paying more should feel like getting more, never like a penalty.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8119897"/>
            <a:ext cx="1613132" cy="546034"/>
          </a:xfrm>
          <a:prstGeom prst="roundRect">
            <a:avLst>
              <a:gd name="adj" fmla="val 10466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5983" y="8244781"/>
            <a:ext cx="1172865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 seat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813182" y="8119897"/>
            <a:ext cx="2846917" cy="546034"/>
          </a:xfrm>
          <a:prstGeom prst="roundRect">
            <a:avLst>
              <a:gd name="adj" fmla="val 10466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71416" y="8244781"/>
            <a:ext cx="2415858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 GB / API call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812400" y="8119897"/>
            <a:ext cx="2709830" cy="546034"/>
          </a:xfrm>
          <a:prstGeom prst="roundRect">
            <a:avLst>
              <a:gd name="adj" fmla="val 10466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0633" y="8244781"/>
            <a:ext cx="2274658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 of spend saved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74530" y="8119897"/>
            <a:ext cx="2984169" cy="546034"/>
          </a:xfrm>
          <a:prstGeom prst="roundRect">
            <a:avLst>
              <a:gd name="adj" fmla="val 10466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32764" y="8244781"/>
            <a:ext cx="2557228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 outcome closed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810647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 · LIVE BUILD · YOUR VALUE METRIC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your price track that metric today?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map your current pricing against the value metric we just named and find the mismatch — where you over- or under-charge relative to the value delivered.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4923400"/>
            <a:ext cx="68580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461040"/>
            <a:ext cx="6797041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905751" y="4923400"/>
            <a:ext cx="93345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1" y="4461040"/>
            <a:ext cx="9347836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ANSWER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673824"/>
            <a:ext cx="68580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134008"/>
            <a:ext cx="6797041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What’s our current pricing unit?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7905751" y="5673824"/>
            <a:ext cx="9334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5751" y="5390555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6424249"/>
            <a:ext cx="68580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5884433"/>
            <a:ext cx="6797041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What’s the real value metric?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7905751" y="6424249"/>
            <a:ext cx="9334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Shape 15"/>
          <p:cNvSpPr/>
          <p:nvPr/>
        </p:nvSpPr>
        <p:spPr>
          <a:xfrm>
            <a:off x="7905751" y="6140980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7750" y="7174673"/>
            <a:ext cx="68580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634857"/>
            <a:ext cx="6797041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 they diverge?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7905751" y="7174673"/>
            <a:ext cx="9334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5751" y="6891404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7385282"/>
            <a:ext cx="6797041" cy="383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Who’s mispriced because of it?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7905751" y="7641829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2462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 · THE LADDER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tiers, one obvious next rung.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tier is built for a different moment of conviction — and each one makes the next rung the obvious move.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509452"/>
            <a:ext cx="5245034" cy="3156479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5520035"/>
            <a:ext cx="28443" cy="313531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5862836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 · ENTRY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6292454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buyer proving it works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6777137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Low-friction start, self-serve. The core outcome, capped scope. No procurement gauntlet to begin.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5509452"/>
            <a:ext cx="5245200" cy="3156479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10583">
            <a:solidFill>
              <a:srgbClr val="3305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5520035"/>
            <a:ext cx="28443" cy="313531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5862836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2 · STANDARD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6292454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team adopting it for real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6777137"/>
            <a:ext cx="459589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product at the value metric. Support &amp; SLA procurement needs. The price your story is built around.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12901" y="7961313"/>
            <a:ext cx="2740422" cy="351234"/>
          </a:xfrm>
          <a:prstGeom prst="roundRect">
            <a:avLst>
              <a:gd name="adj" fmla="val 16271"/>
            </a:avLst>
          </a:prstGeom>
          <a:solidFill>
            <a:srgbClr val="F3E2FD"/>
          </a:solidFill>
          <a:ln/>
        </p:spPr>
      </p:sp>
      <p:sp>
        <p:nvSpPr>
          <p:cNvPr id="17" name="Text 15"/>
          <p:cNvSpPr/>
          <p:nvPr/>
        </p:nvSpPr>
        <p:spPr>
          <a:xfrm>
            <a:off x="7065301" y="7999413"/>
            <a:ext cx="2517835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buyers land here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995052" y="5509452"/>
            <a:ext cx="5245034" cy="3156479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5635" y="5520035"/>
            <a:ext cx="28443" cy="313531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0" name="Text 18"/>
          <p:cNvSpPr/>
          <p:nvPr/>
        </p:nvSpPr>
        <p:spPr>
          <a:xfrm>
            <a:off x="12386635" y="5862836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3 · COMMITTED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86635" y="6292454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org standardizing on you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386635" y="6777137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/ committed-spend pricing. Private offer, EDP/MACC-eligible. Where the biggest deals unlock.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82532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 · THE NARRATIVE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it’s priced this way — in the buyer’s words.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narrative is the sentence your champion repeats to their finance team. We write it so the price feels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inevitable, not negotiable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148046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158629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3501430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ANCHOR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3931047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value, not cost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4415731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 the price against the upside or the cost of the status quo — never against your build cost.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3148046"/>
            <a:ext cx="5245200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3158629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3501430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JUSTIFY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3931047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unit makes sense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4415731"/>
            <a:ext cx="459589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why the value metric is the fair unit. A logical unit defends itself.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3148046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3158629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3501430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EQUIP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3931047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 the champion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4415731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them the one-liner that wins the internal argument when you’re not in the room.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181824"/>
            <a:ext cx="16192501" cy="2484107"/>
          </a:xfrm>
          <a:prstGeom prst="roundRect">
            <a:avLst>
              <a:gd name="adj" fmla="val 4601"/>
            </a:avLst>
          </a:prstGeom>
          <a:solidFill>
            <a:srgbClr val="F3E2F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6181824"/>
            <a:ext cx="28443" cy="2484107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3" name="Text 21"/>
          <p:cNvSpPr/>
          <p:nvPr/>
        </p:nvSpPr>
        <p:spPr>
          <a:xfrm>
            <a:off x="1504818" y="6543642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NARRATIVE TEMPLATE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4818" y="6954242"/>
            <a:ext cx="15736716" cy="961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pay by because that’s the value you capture. At your scale, that’s $ — against $ of upside.”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unit and the upside are stated in the same breath, procurement stops asking “why so much?” and starts asking “how soon?”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521128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 · THE AGENT BUYER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so an agent can buy too.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Increasingly the thing evaluating your pricing is software. It can’t sit through a sales call. If your base path isn’t expressible as data, the agent skips you.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658692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012076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44169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units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4926377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defined, named unit an agent can read and reason about — not a bespoke quote.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3658692"/>
            <a:ext cx="5245200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4012076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4441693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 cost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4926377"/>
            <a:ext cx="459589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buyer (or its agent) can compute the bill from inputs, before committing.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3658692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4012076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444169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Machine-readable terms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4926377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standard-contract or metered path an agent can accept without a human handshake.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3" name="Text 21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RULE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your base price says “contact us,” an agent reads it as “unavailable.”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one fully self-serve, fully legible path — even if the big deals still go through you.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656230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 · WHERE BIG DEALS UNLOCK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offers &amp; committed spend.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list price gets the deal started; private offers and committed-spend motions are where the large numbers actually close. Knowing when to move a buyer to tier 3 is the skill.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165659"/>
            <a:ext cx="3429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703300"/>
            <a:ext cx="326517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76750" y="5165659"/>
            <a:ext cx="5334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4476750" y="4703300"/>
            <a:ext cx="522732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810750" y="5165659"/>
            <a:ext cx="74295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1" name="Text 9"/>
          <p:cNvSpPr/>
          <p:nvPr/>
        </p:nvSpPr>
        <p:spPr>
          <a:xfrm>
            <a:off x="9810750" y="4703300"/>
            <a:ext cx="7385686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 TO REACH FOR 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5897563"/>
            <a:ext cx="3429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5376267"/>
            <a:ext cx="326517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offer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4476750" y="5897563"/>
            <a:ext cx="5334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4476750" y="5376267"/>
            <a:ext cx="522732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custom price/term for a specific buyer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810750" y="5897563"/>
            <a:ext cx="7429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Text 15"/>
          <p:cNvSpPr/>
          <p:nvPr/>
        </p:nvSpPr>
        <p:spPr>
          <a:xfrm>
            <a:off x="9810750" y="5376267"/>
            <a:ext cx="738568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deal is bigger than your list tiers fit.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47750" y="6629467"/>
            <a:ext cx="3429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108171"/>
            <a:ext cx="326517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Committed spend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4476750" y="6629467"/>
            <a:ext cx="5334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4476750" y="6108171"/>
            <a:ext cx="522732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Multi-period commitment at a better rate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810750" y="6629467"/>
            <a:ext cx="7429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9810750" y="6108171"/>
            <a:ext cx="738568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buyer is standardizing and wants predictability.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47750" y="6840075"/>
            <a:ext cx="3265170" cy="68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EDP / MACC fit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4476750" y="6840075"/>
            <a:ext cx="5227320" cy="68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Counts toward their AWS commitment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9810750" y="6840075"/>
            <a:ext cx="7385686" cy="68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buyer has AWS spend to burn down — your offer becomes nearly free to them.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386025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 · THE TEST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procurement-defensibility test.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we call it done, your pricing has to pass the questions a procurement reviewer will ask. We run them now, on your numbers.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341772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493121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8" name="Text 6"/>
          <p:cNvSpPr/>
          <p:nvPr/>
        </p:nvSpPr>
        <p:spPr>
          <a:xfrm>
            <a:off x="1123818" y="4774572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14352" y="4749106"/>
            <a:ext cx="14794986" cy="385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buyer predict their bill from public info, without a call?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6783183" y="4732238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7750" y="619042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1123818" y="5623223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14352" y="5597757"/>
            <a:ext cx="14794986" cy="385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unit defensible — could the champion explain why you charge this way in one sentence?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6783183" y="558089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7750" y="7039075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1123818" y="647187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14352" y="6446408"/>
            <a:ext cx="14794986" cy="385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price map to a budget line the buyer already has — or to AWS committed spend?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6783183" y="6429541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7750" y="7887726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1123818" y="7320525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114352" y="7295059"/>
            <a:ext cx="14794986" cy="385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there a no-handshake path to start, so evaluation doesn’t wait on a contract?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6783183" y="7278192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386025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 · HOMEWORK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the ladder on your pricing page.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story only works where buyers see it. This week the three-tier table and the narrative go onto your real pricing page and into your sales deck.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029233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868043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8" name="Text 6"/>
          <p:cNvSpPr/>
          <p:nvPr/>
        </p:nvSpPr>
        <p:spPr>
          <a:xfrm>
            <a:off x="1123818" y="4305763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14352" y="4117744"/>
            <a:ext cx="658717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3-tier package table into your pricing page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2114352" y="4492294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 / standard / committed, live.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783183" y="426343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7750" y="619042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818" y="546695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14352" y="5278934"/>
            <a:ext cx="722163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pricing narrative — the why, in the buyer’s words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2114352" y="565348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 the champion.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783183" y="542462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7750" y="735161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818" y="662814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14352" y="6440124"/>
            <a:ext cx="646129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one self-serve, agent-readable path exists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2114352" y="681467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“contact us” on the base tier.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783183" y="658581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7750" y="851280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818" y="778933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114352" y="7601314"/>
            <a:ext cx="712352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me the page for an async markup before session 4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2114352" y="797586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pressure-test the defensibility.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783183" y="774700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742737"/>
            <a:ext cx="14716126" cy="2217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250" b="1" spc="-24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Priced for humans. Next: the agent.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1047750" y="5302912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week, session 4: we make your product discoverable and purchasable when the buyer is an AI agent — no human in the loop.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6693462"/>
            <a:ext cx="4304771" cy="687917"/>
          </a:xfrm>
          <a:prstGeom prst="roundRect">
            <a:avLst>
              <a:gd name="adj" fmla="val 50000"/>
            </a:avLst>
          </a:prstGeom>
          <a:solidFill>
            <a:srgbClr val="F3E2FD"/>
          </a:solidFill>
          <a:ln/>
        </p:spPr>
      </p:sp>
      <p:sp>
        <p:nvSpPr>
          <p:cNvPr id="9" name="Text 6"/>
          <p:cNvSpPr/>
          <p:nvPr/>
        </p:nvSpPr>
        <p:spPr>
          <a:xfrm>
            <a:off x="1504950" y="6883962"/>
            <a:ext cx="351951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0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itsrondavis.com · Book a call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9391717"/>
            <a:ext cx="31433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95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730387" y="9381133"/>
            <a:ext cx="361515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4 · Future-proof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2026-06-09T20:30:00Z</dcterms:created>
  <dcterms:modified xsi:type="dcterms:W3CDTF">2026-06-09T20:30:00Z</dcterms:modified>
</cp:coreProperties>
</file>