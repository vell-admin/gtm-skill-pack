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1A04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8288001" cy="1028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723801"/>
            <a:ext cx="176275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F3E2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RON DAVIS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287831" y="723801"/>
            <a:ext cx="304099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995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 Marketplace GTM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2941009"/>
            <a:ext cx="16678276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29" kern="0" dirty="0">
                <a:solidFill>
                  <a:srgbClr val="F3E2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1 · DIAGNOSE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47750" y="3554843"/>
            <a:ext cx="14225589" cy="2447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300" b="1" spc="-27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your pipeline actually leaks.</a:t>
            </a:r>
            <a:endParaRPr lang="en-US" sz="9300" dirty="0"/>
          </a:p>
        </p:txBody>
      </p:sp>
      <p:sp>
        <p:nvSpPr>
          <p:cNvPr id="8" name="Text 5"/>
          <p:cNvSpPr/>
          <p:nvPr/>
        </p:nvSpPr>
        <p:spPr>
          <a:xfrm>
            <a:off x="1047750" y="6325692"/>
            <a:ext cx="1157668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D9C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we fix anything, we name the single biggest leak between “listed” and “bought” — and stand up a scoreboard so every week shows progress.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1047750" y="9103982"/>
            <a:ext cx="16192501" cy="10583"/>
          </a:xfrm>
          <a:prstGeom prst="rect">
            <a:avLst/>
          </a:prstGeom>
          <a:solidFill>
            <a:srgbClr val="F3E2FD">
              <a:alpha val="22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047750" y="9391717"/>
            <a:ext cx="334485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 GTM Coaching · Ron Davis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022917" y="9381133"/>
            <a:ext cx="331385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A995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listed to bought.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366727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1 · THE MAP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 GTM leaks in six places.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drains at a specific stage of the buyer’s journey. We’re going to find which one is costing you the most — </a:t>
            </a:r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fix all six at once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3725664"/>
            <a:ext cx="5245034" cy="2429537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8333" y="3736248"/>
            <a:ext cx="28443" cy="2408370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8" name="Text 6"/>
          <p:cNvSpPr/>
          <p:nvPr/>
        </p:nvSpPr>
        <p:spPr>
          <a:xfrm>
            <a:off x="1439333" y="4079048"/>
            <a:ext cx="270503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055691" y="4174298"/>
            <a:ext cx="92170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39333" y="4654682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39333" y="5139366"/>
            <a:ext cx="4595724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Buyers and agents searching your problem never surface you.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21318" y="3725664"/>
            <a:ext cx="5245200" cy="2429537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1901" y="3736248"/>
            <a:ext cx="28443" cy="2408370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4" name="Text 12"/>
          <p:cNvSpPr/>
          <p:nvPr/>
        </p:nvSpPr>
        <p:spPr>
          <a:xfrm>
            <a:off x="6912901" y="4079048"/>
            <a:ext cx="270503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0360257" y="4174298"/>
            <a:ext cx="109087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CHOSEN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12901" y="4654682"/>
            <a:ext cx="459589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Clarity &amp; proof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12901" y="5139366"/>
            <a:ext cx="4595894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find you, can’t tell what you do or why you, and bounce.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995052" y="3725664"/>
            <a:ext cx="5245034" cy="2429537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05635" y="3736248"/>
            <a:ext cx="28443" cy="2408370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20" name="Text 18"/>
          <p:cNvSpPr/>
          <p:nvPr/>
        </p:nvSpPr>
        <p:spPr>
          <a:xfrm>
            <a:off x="12386635" y="4079048"/>
            <a:ext cx="270503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5833825" y="4174298"/>
            <a:ext cx="109087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PRICED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86635" y="4654682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 story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2386635" y="5139366"/>
            <a:ext cx="4595724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doesn’t track value; procurement stalls the deal.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47750" y="6383735"/>
            <a:ext cx="5245034" cy="2429537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8333" y="6394318"/>
            <a:ext cx="28443" cy="2408370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26" name="Text 24"/>
          <p:cNvSpPr/>
          <p:nvPr/>
        </p:nvSpPr>
        <p:spPr>
          <a:xfrm>
            <a:off x="1439333" y="6737119"/>
            <a:ext cx="270503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4041014" y="6832369"/>
            <a:ext cx="19363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AGENT-READY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39333" y="7312753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Machine-legible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439333" y="7797437"/>
            <a:ext cx="4595724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AI agent can’t parse, compare, or transact against you.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521318" y="6383735"/>
            <a:ext cx="5245200" cy="2429537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31901" y="6394318"/>
            <a:ext cx="28443" cy="2408370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32" name="Text 30"/>
          <p:cNvSpPr/>
          <p:nvPr/>
        </p:nvSpPr>
        <p:spPr>
          <a:xfrm>
            <a:off x="6912901" y="6737119"/>
            <a:ext cx="270503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2550" dirty="0"/>
          </a:p>
        </p:txBody>
      </p:sp>
      <p:sp>
        <p:nvSpPr>
          <p:cNvPr id="33" name="Text 31"/>
          <p:cNvSpPr/>
          <p:nvPr/>
        </p:nvSpPr>
        <p:spPr>
          <a:xfrm>
            <a:off x="10360257" y="6832369"/>
            <a:ext cx="109087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DEMAND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912901" y="7312753"/>
            <a:ext cx="459589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912901" y="7797437"/>
            <a:ext cx="4595894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listing is a storefront with nothing driving people to it.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1995052" y="6383735"/>
            <a:ext cx="5245034" cy="2429537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005635" y="6394318"/>
            <a:ext cx="28443" cy="2408370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38" name="Text 36"/>
          <p:cNvSpPr/>
          <p:nvPr/>
        </p:nvSpPr>
        <p:spPr>
          <a:xfrm>
            <a:off x="12386635" y="6737119"/>
            <a:ext cx="270503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2550" dirty="0"/>
          </a:p>
        </p:txBody>
      </p:sp>
      <p:sp>
        <p:nvSpPr>
          <p:cNvPr id="39" name="Text 37"/>
          <p:cNvSpPr/>
          <p:nvPr/>
        </p:nvSpPr>
        <p:spPr>
          <a:xfrm>
            <a:off x="15664657" y="6832369"/>
            <a:ext cx="1260045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CO-SELL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2386635" y="7312753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field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12386635" y="7797437"/>
            <a:ext cx="4595724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account team doesn’t know when to bring you into a deal.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43" name="Text 41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42462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1 · YOUR STAGE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First, where are you right now?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leak that matters depends on your stage. We mark where you actually are today — honestly — because that decides what the next five sessions optimize for.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3725664"/>
            <a:ext cx="3876642" cy="4940267"/>
          </a:xfrm>
          <a:prstGeom prst="roundRect">
            <a:avLst>
              <a:gd name="adj" fmla="val 2948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39333" y="4079048"/>
            <a:ext cx="3186280" cy="590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00</a:t>
            </a:r>
            <a:endParaRPr lang="en-US" sz="4350" dirty="0"/>
          </a:p>
        </p:txBody>
      </p:sp>
      <p:sp>
        <p:nvSpPr>
          <p:cNvPr id="8" name="Text 6"/>
          <p:cNvSpPr/>
          <p:nvPr/>
        </p:nvSpPr>
        <p:spPr>
          <a:xfrm>
            <a:off x="1439333" y="4802849"/>
            <a:ext cx="3186280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listed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39333" y="5287533"/>
            <a:ext cx="3186280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Pre-listing. The fix is getting on the right way, not patching later.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52926" y="3725664"/>
            <a:ext cx="3876808" cy="4940267"/>
          </a:xfrm>
          <a:prstGeom prst="roundRect">
            <a:avLst>
              <a:gd name="adj" fmla="val 2948"/>
            </a:avLst>
          </a:prstGeom>
          <a:solidFill>
            <a:srgbClr val="FFFFFF"/>
          </a:solidFill>
          <a:ln w="10583">
            <a:solidFill>
              <a:srgbClr val="3305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44509" y="4079048"/>
            <a:ext cx="3186450" cy="590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4350" dirty="0"/>
          </a:p>
        </p:txBody>
      </p:sp>
      <p:sp>
        <p:nvSpPr>
          <p:cNvPr id="12" name="Text 10"/>
          <p:cNvSpPr/>
          <p:nvPr/>
        </p:nvSpPr>
        <p:spPr>
          <a:xfrm>
            <a:off x="5544509" y="4802849"/>
            <a:ext cx="3186450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Listed &amp; quiet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544509" y="5287533"/>
            <a:ext cx="3186450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listing exists. The pipeline doesn’t.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544509" y="7961313"/>
            <a:ext cx="2762581" cy="351234"/>
          </a:xfrm>
          <a:prstGeom prst="roundRect">
            <a:avLst>
              <a:gd name="adj" fmla="val 16271"/>
            </a:avLst>
          </a:prstGeom>
          <a:solidFill>
            <a:srgbClr val="F3E2FD"/>
          </a:solidFill>
          <a:ln/>
        </p:spPr>
      </p:sp>
      <p:sp>
        <p:nvSpPr>
          <p:cNvPr id="15" name="Text 13"/>
          <p:cNvSpPr/>
          <p:nvPr/>
        </p:nvSpPr>
        <p:spPr>
          <a:xfrm>
            <a:off x="5696909" y="7999413"/>
            <a:ext cx="2540658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clients start here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258267" y="3725664"/>
            <a:ext cx="3876642" cy="4940267"/>
          </a:xfrm>
          <a:prstGeom prst="roundRect">
            <a:avLst>
              <a:gd name="adj" fmla="val 2948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49851" y="4079048"/>
            <a:ext cx="3186280" cy="590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4350" dirty="0"/>
          </a:p>
        </p:txBody>
      </p:sp>
      <p:sp>
        <p:nvSpPr>
          <p:cNvPr id="18" name="Text 16"/>
          <p:cNvSpPr/>
          <p:nvPr/>
        </p:nvSpPr>
        <p:spPr>
          <a:xfrm>
            <a:off x="9649851" y="4802849"/>
            <a:ext cx="3186280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 traction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649851" y="5287533"/>
            <a:ext cx="3186280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Deals trickle in, but you can’t name what’s driving them.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363444" y="3725664"/>
            <a:ext cx="3876808" cy="4940267"/>
          </a:xfrm>
          <a:prstGeom prst="roundRect">
            <a:avLst>
              <a:gd name="adj" fmla="val 2948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55027" y="4079048"/>
            <a:ext cx="3186450" cy="590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4350" dirty="0"/>
          </a:p>
        </p:txBody>
      </p:sp>
      <p:sp>
        <p:nvSpPr>
          <p:cNvPr id="22" name="Text 20"/>
          <p:cNvSpPr/>
          <p:nvPr/>
        </p:nvSpPr>
        <p:spPr>
          <a:xfrm>
            <a:off x="13755027" y="4802849"/>
            <a:ext cx="3186450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Scaling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755027" y="5287533"/>
            <a:ext cx="3186450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works — now make it repeatable without you in every deal.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5" name="Text 23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501830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1 · THE DIAGNOSTIC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Eight questions that find the leak.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2844436"/>
            <a:ext cx="22860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2382077"/>
            <a:ext cx="2095500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33750" y="2844436"/>
            <a:ext cx="13906501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8" name="Text 6"/>
          <p:cNvSpPr/>
          <p:nvPr/>
        </p:nvSpPr>
        <p:spPr>
          <a:xfrm>
            <a:off x="3333750" y="2382077"/>
            <a:ext cx="14056996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I’M ASKING YOU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7750" y="3576340"/>
            <a:ext cx="228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" y="3055045"/>
            <a:ext cx="209550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Situation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33750" y="3576340"/>
            <a:ext cx="13906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2" name="Text 10"/>
          <p:cNvSpPr/>
          <p:nvPr/>
        </p:nvSpPr>
        <p:spPr>
          <a:xfrm>
            <a:off x="3333750" y="3055045"/>
            <a:ext cx="14056996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What’s the product, who’s the buyer, and what stage is the listing at today?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47750" y="4308244"/>
            <a:ext cx="228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3786948"/>
            <a:ext cx="209550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Situation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333750" y="4308244"/>
            <a:ext cx="13906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6" name="Text 14"/>
          <p:cNvSpPr/>
          <p:nvPr/>
        </p:nvSpPr>
        <p:spPr>
          <a:xfrm>
            <a:off x="3333750" y="3786948"/>
            <a:ext cx="14056996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 buyers find you now — branded search, referral, or not at all?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047750" y="5040147"/>
            <a:ext cx="228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4518852"/>
            <a:ext cx="209550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Problem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333750" y="5040147"/>
            <a:ext cx="13906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0" name="Text 18"/>
          <p:cNvSpPr/>
          <p:nvPr/>
        </p:nvSpPr>
        <p:spPr>
          <a:xfrm>
            <a:off x="3333750" y="4518852"/>
            <a:ext cx="14056996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in the journey do you watch interest die — before or after they reach the listing?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047750" y="5772051"/>
            <a:ext cx="228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750" y="5250756"/>
            <a:ext cx="209550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Problem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333750" y="5772051"/>
            <a:ext cx="13906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4" name="Text 22"/>
          <p:cNvSpPr/>
          <p:nvPr/>
        </p:nvSpPr>
        <p:spPr>
          <a:xfrm>
            <a:off x="3333750" y="5250756"/>
            <a:ext cx="14056996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 deal stalls, what’s the reason you hear most: unclear, unpriced, or unsupported?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47750" y="6503955"/>
            <a:ext cx="228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6" name="Text 24"/>
          <p:cNvSpPr/>
          <p:nvPr/>
        </p:nvSpPr>
        <p:spPr>
          <a:xfrm>
            <a:off x="1047750" y="5982659"/>
            <a:ext cx="209550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Impact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333750" y="6503955"/>
            <a:ext cx="13906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8" name="Text 26"/>
          <p:cNvSpPr/>
          <p:nvPr/>
        </p:nvSpPr>
        <p:spPr>
          <a:xfrm>
            <a:off x="3333750" y="5982659"/>
            <a:ext cx="14056996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What’s a closed deal worth, and how many do you think you’re losing to the leak?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47750" y="7235858"/>
            <a:ext cx="228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30" name="Text 28"/>
          <p:cNvSpPr/>
          <p:nvPr/>
        </p:nvSpPr>
        <p:spPr>
          <a:xfrm>
            <a:off x="1047750" y="6714563"/>
            <a:ext cx="209550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Impact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333750" y="7235858"/>
            <a:ext cx="13906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32" name="Text 30"/>
          <p:cNvSpPr/>
          <p:nvPr/>
        </p:nvSpPr>
        <p:spPr>
          <a:xfrm>
            <a:off x="3333750" y="6714563"/>
            <a:ext cx="14056996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“working” look like in 90 days — a number, not a vibe?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1047750" y="7967762"/>
            <a:ext cx="228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34" name="Text 32"/>
          <p:cNvSpPr/>
          <p:nvPr/>
        </p:nvSpPr>
        <p:spPr>
          <a:xfrm>
            <a:off x="1047750" y="7446467"/>
            <a:ext cx="209550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Readiness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333750" y="7967762"/>
            <a:ext cx="13906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36" name="Text 34"/>
          <p:cNvSpPr/>
          <p:nvPr/>
        </p:nvSpPr>
        <p:spPr>
          <a:xfrm>
            <a:off x="3333750" y="7446467"/>
            <a:ext cx="14056996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owns the keyboard on your listing, pricing, and ACE today?</a:t>
            </a:r>
            <a:endParaRPr lang="en-US" sz="1875" dirty="0"/>
          </a:p>
        </p:txBody>
      </p:sp>
      <p:sp>
        <p:nvSpPr>
          <p:cNvPr id="37" name="Text 35"/>
          <p:cNvSpPr/>
          <p:nvPr/>
        </p:nvSpPr>
        <p:spPr>
          <a:xfrm>
            <a:off x="1047750" y="8178371"/>
            <a:ext cx="2095500" cy="36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Readiness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3333750" y="8178371"/>
            <a:ext cx="14056996" cy="36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have you already tried, and what moved the needle even slightly?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40" name="Text 38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42462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1 · HYPOTHESIS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read on your #1 leak.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the intake and these answers, I’ll commit to a hypothesis on the air — the one stage costing you the most — and we pressure-test it together.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3485720"/>
            <a:ext cx="5245034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8333" y="3496303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8" name="Text 6"/>
          <p:cNvSpPr/>
          <p:nvPr/>
        </p:nvSpPr>
        <p:spPr>
          <a:xfrm>
            <a:off x="1439333" y="3839104"/>
            <a:ext cx="459572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CLAIM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9333" y="4268721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leak, named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39333" y="4753405"/>
            <a:ext cx="4595724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six things to fix. The single highest-leverage stage where your pipeline drains today.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21318" y="3485720"/>
            <a:ext cx="5245200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1901" y="3496303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3" name="Text 11"/>
          <p:cNvSpPr/>
          <p:nvPr/>
        </p:nvSpPr>
        <p:spPr>
          <a:xfrm>
            <a:off x="6912901" y="3839104"/>
            <a:ext cx="459589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EVIDENCE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12901" y="4268721"/>
            <a:ext cx="459589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one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12901" y="4753405"/>
            <a:ext cx="4595894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signals from your listing, pricing, and search footprint that point here over the others.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995052" y="3485720"/>
            <a:ext cx="5245034" cy="2614745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5635" y="3496303"/>
            <a:ext cx="28443" cy="2593578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6635" y="3839104"/>
            <a:ext cx="459572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TEST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86635" y="4268721"/>
            <a:ext cx="459572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we’ll know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386635" y="4753405"/>
            <a:ext cx="4595724" cy="10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metric that should move first if the hypothesis is right — your leading indicator.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47750" y="6519499"/>
            <a:ext cx="16192501" cy="2146432"/>
          </a:xfrm>
          <a:prstGeom prst="roundRect">
            <a:avLst>
              <a:gd name="adj" fmla="val 5325"/>
            </a:avLst>
          </a:prstGeom>
          <a:solidFill>
            <a:srgbClr val="F3E2FD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7750" y="6519499"/>
            <a:ext cx="28443" cy="2146432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23" name="Text 21"/>
          <p:cNvSpPr/>
          <p:nvPr/>
        </p:nvSpPr>
        <p:spPr>
          <a:xfrm>
            <a:off x="1504818" y="6881317"/>
            <a:ext cx="157367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LIVE, ON YOUR BUSINESS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04818" y="7291917"/>
            <a:ext cx="15736716" cy="6048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49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“Your biggest leak is .”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1504818" y="7972888"/>
            <a:ext cx="15736716" cy="36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fill this blank together, out loud, on your real product — and it becomes the spine of the whole engagement.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7" name="Text 25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386025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1 · THE COST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leak is worth.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put a number on it. The leak isn’t abstract — it’s pipeline you’re already losing every quarter. This number anchors everything we build next.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4389603"/>
            <a:ext cx="5245034" cy="1883833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39333" y="4742987"/>
            <a:ext cx="4595724" cy="762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spc="-114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</a:t>
            </a:r>
            <a:pPr algn="l" indent="0" marL="0">
              <a:lnSpc>
                <a:spcPct val="100000"/>
              </a:lnSpc>
              <a:buNone/>
            </a:pPr>
            <a:r>
              <a:rPr lang="en-US" sz="3000" spc="-11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/qtr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1439333" y="5600237"/>
            <a:ext cx="459572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Qualified buyers reaching the leak stage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21318" y="4389603"/>
            <a:ext cx="5245200" cy="1883833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12901" y="4742987"/>
            <a:ext cx="4595894" cy="762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spc="-114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___</a:t>
            </a:r>
            <a:pPr algn="l" indent="0" marL="0">
              <a:lnSpc>
                <a:spcPct val="100000"/>
              </a:lnSpc>
              <a:buNone/>
            </a:pPr>
            <a:r>
              <a:rPr lang="en-US" sz="3000" spc="-11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6912901" y="5600237"/>
            <a:ext cx="459589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Dropping out at the leak, vs. benchmark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995052" y="4389603"/>
            <a:ext cx="5245034" cy="1883833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6635" y="4742987"/>
            <a:ext cx="4595724" cy="762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spc="-114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$____</a:t>
            </a:r>
            <a:endParaRPr lang="en-US" sz="5700" dirty="0"/>
          </a:p>
        </p:txBody>
      </p:sp>
      <p:sp>
        <p:nvSpPr>
          <p:cNvPr id="14" name="Text 12"/>
          <p:cNvSpPr/>
          <p:nvPr/>
        </p:nvSpPr>
        <p:spPr>
          <a:xfrm>
            <a:off x="12386635" y="5600237"/>
            <a:ext cx="459572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value walking out the door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47750" y="6692471"/>
            <a:ext cx="16192501" cy="1973461"/>
          </a:xfrm>
          <a:prstGeom prst="roundRect">
            <a:avLst>
              <a:gd name="adj" fmla="val 5792"/>
            </a:avLst>
          </a:prstGeom>
          <a:solidFill>
            <a:srgbClr val="F3E2FD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7750" y="6692471"/>
            <a:ext cx="28443" cy="1973461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7" name="Text 15"/>
          <p:cNvSpPr/>
          <p:nvPr/>
        </p:nvSpPr>
        <p:spPr>
          <a:xfrm>
            <a:off x="1504818" y="7054288"/>
            <a:ext cx="157367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WE DO THE MATH FIRST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4818" y="7464889"/>
            <a:ext cx="1573671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cost of the leak is the budget for fixing it.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504818" y="7972888"/>
            <a:ext cx="15736716" cy="36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gap is a number, every session has an ROI target — and you can tell whether the work paid for itself.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1" name="Text 19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907153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1 · LIVE BUILD · YOUR TAKE-HOME TRACKER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GTM Scoreboard.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page you own and keep updating after we’re done: </a:t>
            </a:r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leak → fix → metric → status 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We start filling it right now.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4039692"/>
            <a:ext cx="26670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3577332"/>
            <a:ext cx="2480310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LEAK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714750" y="4039692"/>
            <a:ext cx="51435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9" name="Text 7"/>
          <p:cNvSpPr/>
          <p:nvPr/>
        </p:nvSpPr>
        <p:spPr>
          <a:xfrm>
            <a:off x="3714750" y="3577332"/>
            <a:ext cx="5031105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FIX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858251" y="4039692"/>
            <a:ext cx="40005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11" name="Text 9"/>
          <p:cNvSpPr/>
          <p:nvPr/>
        </p:nvSpPr>
        <p:spPr>
          <a:xfrm>
            <a:off x="8858251" y="3577332"/>
            <a:ext cx="3853815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METRIC TO MOVE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858751" y="4039692"/>
            <a:ext cx="20955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13" name="Text 11"/>
          <p:cNvSpPr/>
          <p:nvPr/>
        </p:nvSpPr>
        <p:spPr>
          <a:xfrm>
            <a:off x="12858751" y="3577332"/>
            <a:ext cx="1905000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OWNER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954251" y="4039692"/>
            <a:ext cx="22860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15" name="Text 13"/>
          <p:cNvSpPr/>
          <p:nvPr/>
        </p:nvSpPr>
        <p:spPr>
          <a:xfrm>
            <a:off x="14954251" y="3577332"/>
            <a:ext cx="2095500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4834599"/>
            <a:ext cx="2667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4250300"/>
            <a:ext cx="2480310" cy="422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3714750" y="4834599"/>
            <a:ext cx="5143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9" name="Shape 17"/>
          <p:cNvSpPr/>
          <p:nvPr/>
        </p:nvSpPr>
        <p:spPr>
          <a:xfrm>
            <a:off x="3714750" y="4529005"/>
            <a:ext cx="17145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20" name="Shape 18"/>
          <p:cNvSpPr/>
          <p:nvPr/>
        </p:nvSpPr>
        <p:spPr>
          <a:xfrm>
            <a:off x="8858251" y="4834599"/>
            <a:ext cx="4000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1" name="Text 19"/>
          <p:cNvSpPr/>
          <p:nvPr/>
        </p:nvSpPr>
        <p:spPr>
          <a:xfrm>
            <a:off x="8858251" y="4250300"/>
            <a:ext cx="3853815" cy="422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Impressions / search rank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2858751" y="4834599"/>
            <a:ext cx="2095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2858751" y="4529005"/>
            <a:ext cx="1143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24" name="Shape 22"/>
          <p:cNvSpPr/>
          <p:nvPr/>
        </p:nvSpPr>
        <p:spPr>
          <a:xfrm>
            <a:off x="14954251" y="4834599"/>
            <a:ext cx="228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4954251" y="4255492"/>
            <a:ext cx="1551781" cy="384473"/>
          </a:xfrm>
          <a:prstGeom prst="roundRect">
            <a:avLst>
              <a:gd name="adj" fmla="val 14865"/>
            </a:avLst>
          </a:prstGeom>
          <a:solidFill>
            <a:srgbClr val="F4F4F6"/>
          </a:solidFill>
          <a:ln/>
        </p:spPr>
      </p:sp>
      <p:sp>
        <p:nvSpPr>
          <p:cNvPr id="26" name="Text 24"/>
          <p:cNvSpPr/>
          <p:nvPr/>
        </p:nvSpPr>
        <p:spPr>
          <a:xfrm>
            <a:off x="15106651" y="4293592"/>
            <a:ext cx="1323181" cy="346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started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47750" y="5629507"/>
            <a:ext cx="2667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8" name="Text 26"/>
          <p:cNvSpPr/>
          <p:nvPr/>
        </p:nvSpPr>
        <p:spPr>
          <a:xfrm>
            <a:off x="1047750" y="5045207"/>
            <a:ext cx="2480310" cy="422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Clarity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3714750" y="5629507"/>
            <a:ext cx="5143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30" name="Shape 28"/>
          <p:cNvSpPr/>
          <p:nvPr/>
        </p:nvSpPr>
        <p:spPr>
          <a:xfrm>
            <a:off x="3714750" y="5323913"/>
            <a:ext cx="17145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31" name="Shape 29"/>
          <p:cNvSpPr/>
          <p:nvPr/>
        </p:nvSpPr>
        <p:spPr>
          <a:xfrm>
            <a:off x="8858251" y="5629507"/>
            <a:ext cx="4000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32" name="Text 30"/>
          <p:cNvSpPr/>
          <p:nvPr/>
        </p:nvSpPr>
        <p:spPr>
          <a:xfrm>
            <a:off x="8858251" y="5045207"/>
            <a:ext cx="3853815" cy="422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Listing → lead rate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12858751" y="5629507"/>
            <a:ext cx="2095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2858751" y="5323913"/>
            <a:ext cx="1143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35" name="Shape 33"/>
          <p:cNvSpPr/>
          <p:nvPr/>
        </p:nvSpPr>
        <p:spPr>
          <a:xfrm>
            <a:off x="14954251" y="5629507"/>
            <a:ext cx="228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4954251" y="5050400"/>
            <a:ext cx="1551781" cy="384473"/>
          </a:xfrm>
          <a:prstGeom prst="roundRect">
            <a:avLst>
              <a:gd name="adj" fmla="val 14865"/>
            </a:avLst>
          </a:prstGeom>
          <a:solidFill>
            <a:srgbClr val="F4F4F6"/>
          </a:solidFill>
          <a:ln/>
        </p:spPr>
      </p:sp>
      <p:sp>
        <p:nvSpPr>
          <p:cNvPr id="37" name="Text 35"/>
          <p:cNvSpPr/>
          <p:nvPr/>
        </p:nvSpPr>
        <p:spPr>
          <a:xfrm>
            <a:off x="15106651" y="5088500"/>
            <a:ext cx="1323181" cy="346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started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047750" y="6424414"/>
            <a:ext cx="2667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39" name="Text 37"/>
          <p:cNvSpPr/>
          <p:nvPr/>
        </p:nvSpPr>
        <p:spPr>
          <a:xfrm>
            <a:off x="1047750" y="5840115"/>
            <a:ext cx="2480310" cy="422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3714750" y="6424414"/>
            <a:ext cx="5143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41" name="Shape 39"/>
          <p:cNvSpPr/>
          <p:nvPr/>
        </p:nvSpPr>
        <p:spPr>
          <a:xfrm>
            <a:off x="3714750" y="6118820"/>
            <a:ext cx="17145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42" name="Shape 40"/>
          <p:cNvSpPr/>
          <p:nvPr/>
        </p:nvSpPr>
        <p:spPr>
          <a:xfrm>
            <a:off x="8858251" y="6424414"/>
            <a:ext cx="4000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43" name="Text 41"/>
          <p:cNvSpPr/>
          <p:nvPr/>
        </p:nvSpPr>
        <p:spPr>
          <a:xfrm>
            <a:off x="8858251" y="5840115"/>
            <a:ext cx="3853815" cy="422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 → close rate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12858751" y="6424414"/>
            <a:ext cx="2095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45" name="Shape 43"/>
          <p:cNvSpPr/>
          <p:nvPr/>
        </p:nvSpPr>
        <p:spPr>
          <a:xfrm>
            <a:off x="12858751" y="6118820"/>
            <a:ext cx="1143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46" name="Shape 44"/>
          <p:cNvSpPr/>
          <p:nvPr/>
        </p:nvSpPr>
        <p:spPr>
          <a:xfrm>
            <a:off x="14954251" y="6424414"/>
            <a:ext cx="228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47" name="Shape 45"/>
          <p:cNvSpPr/>
          <p:nvPr/>
        </p:nvSpPr>
        <p:spPr>
          <a:xfrm>
            <a:off x="14954251" y="5845308"/>
            <a:ext cx="1551781" cy="384473"/>
          </a:xfrm>
          <a:prstGeom prst="roundRect">
            <a:avLst>
              <a:gd name="adj" fmla="val 14865"/>
            </a:avLst>
          </a:prstGeom>
          <a:solidFill>
            <a:srgbClr val="F4F4F6"/>
          </a:solidFill>
          <a:ln/>
        </p:spPr>
      </p:sp>
      <p:sp>
        <p:nvSpPr>
          <p:cNvPr id="48" name="Text 46"/>
          <p:cNvSpPr/>
          <p:nvPr/>
        </p:nvSpPr>
        <p:spPr>
          <a:xfrm>
            <a:off x="15106651" y="5883408"/>
            <a:ext cx="1323181" cy="346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started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047750" y="7219322"/>
            <a:ext cx="2667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50" name="Text 48"/>
          <p:cNvSpPr/>
          <p:nvPr/>
        </p:nvSpPr>
        <p:spPr>
          <a:xfrm>
            <a:off x="1047750" y="6635023"/>
            <a:ext cx="2480310" cy="422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Agent-ready</a:t>
            </a:r>
            <a:endParaRPr lang="en-US" sz="1875" dirty="0"/>
          </a:p>
        </p:txBody>
      </p:sp>
      <p:sp>
        <p:nvSpPr>
          <p:cNvPr id="51" name="Shape 49"/>
          <p:cNvSpPr/>
          <p:nvPr/>
        </p:nvSpPr>
        <p:spPr>
          <a:xfrm>
            <a:off x="3714750" y="7219322"/>
            <a:ext cx="5143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52" name="Shape 50"/>
          <p:cNvSpPr/>
          <p:nvPr/>
        </p:nvSpPr>
        <p:spPr>
          <a:xfrm>
            <a:off x="3714750" y="6913728"/>
            <a:ext cx="17145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53" name="Shape 51"/>
          <p:cNvSpPr/>
          <p:nvPr/>
        </p:nvSpPr>
        <p:spPr>
          <a:xfrm>
            <a:off x="8858251" y="7219322"/>
            <a:ext cx="4000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54" name="Text 52"/>
          <p:cNvSpPr/>
          <p:nvPr/>
        </p:nvSpPr>
        <p:spPr>
          <a:xfrm>
            <a:off x="8858251" y="6635023"/>
            <a:ext cx="3853815" cy="422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 / match score</a:t>
            </a:r>
            <a:endParaRPr lang="en-US" sz="1875" dirty="0"/>
          </a:p>
        </p:txBody>
      </p:sp>
      <p:sp>
        <p:nvSpPr>
          <p:cNvPr id="55" name="Shape 53"/>
          <p:cNvSpPr/>
          <p:nvPr/>
        </p:nvSpPr>
        <p:spPr>
          <a:xfrm>
            <a:off x="12858751" y="7219322"/>
            <a:ext cx="2095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56" name="Shape 54"/>
          <p:cNvSpPr/>
          <p:nvPr/>
        </p:nvSpPr>
        <p:spPr>
          <a:xfrm>
            <a:off x="12858751" y="6913728"/>
            <a:ext cx="1143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57" name="Shape 55"/>
          <p:cNvSpPr/>
          <p:nvPr/>
        </p:nvSpPr>
        <p:spPr>
          <a:xfrm>
            <a:off x="14954251" y="7219322"/>
            <a:ext cx="228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58" name="Shape 56"/>
          <p:cNvSpPr/>
          <p:nvPr/>
        </p:nvSpPr>
        <p:spPr>
          <a:xfrm>
            <a:off x="14954251" y="6640215"/>
            <a:ext cx="1551781" cy="384473"/>
          </a:xfrm>
          <a:prstGeom prst="roundRect">
            <a:avLst>
              <a:gd name="adj" fmla="val 14865"/>
            </a:avLst>
          </a:prstGeom>
          <a:solidFill>
            <a:srgbClr val="F4F4F6"/>
          </a:solidFill>
          <a:ln/>
        </p:spPr>
      </p:sp>
      <p:sp>
        <p:nvSpPr>
          <p:cNvPr id="59" name="Text 57"/>
          <p:cNvSpPr/>
          <p:nvPr/>
        </p:nvSpPr>
        <p:spPr>
          <a:xfrm>
            <a:off x="15106651" y="6678315"/>
            <a:ext cx="1323181" cy="346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started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047750" y="8014229"/>
            <a:ext cx="2667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61" name="Text 59"/>
          <p:cNvSpPr/>
          <p:nvPr/>
        </p:nvSpPr>
        <p:spPr>
          <a:xfrm>
            <a:off x="1047750" y="7429930"/>
            <a:ext cx="2480310" cy="422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</a:t>
            </a:r>
            <a:endParaRPr lang="en-US" sz="1875" dirty="0"/>
          </a:p>
        </p:txBody>
      </p:sp>
      <p:sp>
        <p:nvSpPr>
          <p:cNvPr id="62" name="Shape 60"/>
          <p:cNvSpPr/>
          <p:nvPr/>
        </p:nvSpPr>
        <p:spPr>
          <a:xfrm>
            <a:off x="3714750" y="8014229"/>
            <a:ext cx="5143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714750" y="7708636"/>
            <a:ext cx="17145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64" name="Shape 62"/>
          <p:cNvSpPr/>
          <p:nvPr/>
        </p:nvSpPr>
        <p:spPr>
          <a:xfrm>
            <a:off x="8858251" y="8014229"/>
            <a:ext cx="4000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65" name="Text 63"/>
          <p:cNvSpPr/>
          <p:nvPr/>
        </p:nvSpPr>
        <p:spPr>
          <a:xfrm>
            <a:off x="8858251" y="7429930"/>
            <a:ext cx="3853815" cy="422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to listing</a:t>
            </a:r>
            <a:endParaRPr lang="en-US" sz="1875" dirty="0"/>
          </a:p>
        </p:txBody>
      </p:sp>
      <p:sp>
        <p:nvSpPr>
          <p:cNvPr id="66" name="Shape 64"/>
          <p:cNvSpPr/>
          <p:nvPr/>
        </p:nvSpPr>
        <p:spPr>
          <a:xfrm>
            <a:off x="12858751" y="8014229"/>
            <a:ext cx="20955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67" name="Shape 65"/>
          <p:cNvSpPr/>
          <p:nvPr/>
        </p:nvSpPr>
        <p:spPr>
          <a:xfrm>
            <a:off x="12858751" y="7708636"/>
            <a:ext cx="1143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68" name="Shape 66"/>
          <p:cNvSpPr/>
          <p:nvPr/>
        </p:nvSpPr>
        <p:spPr>
          <a:xfrm>
            <a:off x="14954251" y="8014229"/>
            <a:ext cx="228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69" name="Shape 67"/>
          <p:cNvSpPr/>
          <p:nvPr/>
        </p:nvSpPr>
        <p:spPr>
          <a:xfrm>
            <a:off x="14954251" y="7435123"/>
            <a:ext cx="1551781" cy="384473"/>
          </a:xfrm>
          <a:prstGeom prst="roundRect">
            <a:avLst>
              <a:gd name="adj" fmla="val 14865"/>
            </a:avLst>
          </a:prstGeom>
          <a:solidFill>
            <a:srgbClr val="F4F4F6"/>
          </a:solidFill>
          <a:ln/>
        </p:spPr>
      </p:sp>
      <p:sp>
        <p:nvSpPr>
          <p:cNvPr id="70" name="Text 68"/>
          <p:cNvSpPr/>
          <p:nvPr/>
        </p:nvSpPr>
        <p:spPr>
          <a:xfrm>
            <a:off x="15106651" y="7473223"/>
            <a:ext cx="1323181" cy="346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started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047750" y="8224838"/>
            <a:ext cx="2480310" cy="427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Co-sell</a:t>
            </a:r>
            <a:endParaRPr lang="en-US" sz="1875" dirty="0"/>
          </a:p>
        </p:txBody>
      </p:sp>
      <p:sp>
        <p:nvSpPr>
          <p:cNvPr id="72" name="Shape 70"/>
          <p:cNvSpPr/>
          <p:nvPr/>
        </p:nvSpPr>
        <p:spPr>
          <a:xfrm>
            <a:off x="3714750" y="8503544"/>
            <a:ext cx="17145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73" name="Text 71"/>
          <p:cNvSpPr/>
          <p:nvPr/>
        </p:nvSpPr>
        <p:spPr>
          <a:xfrm>
            <a:off x="8858251" y="8224838"/>
            <a:ext cx="3853815" cy="427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 opps registered</a:t>
            </a:r>
            <a:endParaRPr lang="en-US" sz="1875" dirty="0"/>
          </a:p>
        </p:txBody>
      </p:sp>
      <p:sp>
        <p:nvSpPr>
          <p:cNvPr id="74" name="Shape 72"/>
          <p:cNvSpPr/>
          <p:nvPr/>
        </p:nvSpPr>
        <p:spPr>
          <a:xfrm>
            <a:off x="12858751" y="8503544"/>
            <a:ext cx="1143000" cy="10583"/>
          </a:xfrm>
          <a:prstGeom prst="rect">
            <a:avLst/>
          </a:prstGeom>
          <a:solidFill>
            <a:srgbClr val="C9C2DD"/>
          </a:solidFill>
          <a:ln/>
        </p:spPr>
      </p:sp>
      <p:sp>
        <p:nvSpPr>
          <p:cNvPr id="75" name="Shape 73"/>
          <p:cNvSpPr/>
          <p:nvPr/>
        </p:nvSpPr>
        <p:spPr>
          <a:xfrm>
            <a:off x="14954251" y="8230030"/>
            <a:ext cx="1551781" cy="384473"/>
          </a:xfrm>
          <a:prstGeom prst="roundRect">
            <a:avLst>
              <a:gd name="adj" fmla="val 14865"/>
            </a:avLst>
          </a:prstGeom>
          <a:solidFill>
            <a:srgbClr val="F4F4F6"/>
          </a:solidFill>
          <a:ln/>
        </p:spPr>
      </p:sp>
      <p:sp>
        <p:nvSpPr>
          <p:cNvPr id="76" name="Text 74"/>
          <p:cNvSpPr/>
          <p:nvPr/>
        </p:nvSpPr>
        <p:spPr>
          <a:xfrm>
            <a:off x="15106651" y="8268130"/>
            <a:ext cx="1323181" cy="346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started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78" name="Text 76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79" name="Text 77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386025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1 · THE PLAN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next five sessions close it.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3942292"/>
            <a:ext cx="38100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3479932"/>
            <a:ext cx="3657600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857750" y="3942292"/>
            <a:ext cx="6286501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8" name="Text 6"/>
          <p:cNvSpPr/>
          <p:nvPr/>
        </p:nvSpPr>
        <p:spPr>
          <a:xfrm>
            <a:off x="4857750" y="3479932"/>
            <a:ext cx="6208396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 BUILD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144250" y="3942292"/>
            <a:ext cx="6096000" cy="10583"/>
          </a:xfrm>
          <a:prstGeom prst="rect">
            <a:avLst/>
          </a:prstGeom>
          <a:solidFill>
            <a:srgbClr val="111215"/>
          </a:solidFill>
          <a:ln/>
        </p:spPr>
      </p:sp>
      <p:sp>
        <p:nvSpPr>
          <p:cNvPr id="10" name="Text 8"/>
          <p:cNvSpPr/>
          <p:nvPr/>
        </p:nvSpPr>
        <p:spPr>
          <a:xfrm>
            <a:off x="11144250" y="3479932"/>
            <a:ext cx="6012180" cy="32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LIVES IN YOUR ACCOUNT AS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47750" y="4674196"/>
            <a:ext cx="3810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2" name="Text 10"/>
          <p:cNvSpPr/>
          <p:nvPr/>
        </p:nvSpPr>
        <p:spPr>
          <a:xfrm>
            <a:off x="1047750" y="4152900"/>
            <a:ext cx="365760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</a:t>
            </a:r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Get found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4857750" y="4674196"/>
            <a:ext cx="6286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4" name="Text 12"/>
          <p:cNvSpPr/>
          <p:nvPr/>
        </p:nvSpPr>
        <p:spPr>
          <a:xfrm>
            <a:off x="4857750" y="4152900"/>
            <a:ext cx="6208396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Rewrite the listing for humans and agents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1144250" y="4674196"/>
            <a:ext cx="609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6" name="Text 14"/>
          <p:cNvSpPr/>
          <p:nvPr/>
        </p:nvSpPr>
        <p:spPr>
          <a:xfrm>
            <a:off x="11144250" y="4152900"/>
            <a:ext cx="601218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title / short / long + keywords in AWS MP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047750" y="5406099"/>
            <a:ext cx="3810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4884804"/>
            <a:ext cx="365760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</a:t>
            </a:r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Get bought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4857750" y="5406099"/>
            <a:ext cx="6286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0" name="Text 18"/>
          <p:cNvSpPr/>
          <p:nvPr/>
        </p:nvSpPr>
        <p:spPr>
          <a:xfrm>
            <a:off x="4857750" y="4884804"/>
            <a:ext cx="6208396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pricing story that survives procurement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1144250" y="5406099"/>
            <a:ext cx="609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2" name="Text 20"/>
          <p:cNvSpPr/>
          <p:nvPr/>
        </p:nvSpPr>
        <p:spPr>
          <a:xfrm>
            <a:off x="11144250" y="4884804"/>
            <a:ext cx="601218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3-tier ladder + narrative on your pricing page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1047750" y="6138003"/>
            <a:ext cx="3810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4" name="Text 22"/>
          <p:cNvSpPr/>
          <p:nvPr/>
        </p:nvSpPr>
        <p:spPr>
          <a:xfrm>
            <a:off x="1047750" y="5616708"/>
            <a:ext cx="365760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</a:t>
            </a:r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Future-proof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4857750" y="6138003"/>
            <a:ext cx="6286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6" name="Text 24"/>
          <p:cNvSpPr/>
          <p:nvPr/>
        </p:nvSpPr>
        <p:spPr>
          <a:xfrm>
            <a:off x="4857750" y="5616708"/>
            <a:ext cx="6208396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Agent-ready positioning + checklist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1144250" y="6138003"/>
            <a:ext cx="609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8" name="Text 26"/>
          <p:cNvSpPr/>
          <p:nvPr/>
        </p:nvSpPr>
        <p:spPr>
          <a:xfrm>
            <a:off x="11144250" y="5616708"/>
            <a:ext cx="601218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Machine-legible statement + ordered fixes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47750" y="6869907"/>
            <a:ext cx="3810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30" name="Text 28"/>
          <p:cNvSpPr/>
          <p:nvPr/>
        </p:nvSpPr>
        <p:spPr>
          <a:xfrm>
            <a:off x="1047750" y="6348611"/>
            <a:ext cx="365760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</a:t>
            </a:r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Drive demand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4857750" y="6869907"/>
            <a:ext cx="6286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32" name="Text 30"/>
          <p:cNvSpPr/>
          <p:nvPr/>
        </p:nvSpPr>
        <p:spPr>
          <a:xfrm>
            <a:off x="4857750" y="6348611"/>
            <a:ext cx="6208396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4-week campaign that feeds the listing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11144250" y="6869907"/>
            <a:ext cx="6096000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34" name="Text 32"/>
          <p:cNvSpPr/>
          <p:nvPr/>
        </p:nvSpPr>
        <p:spPr>
          <a:xfrm>
            <a:off x="11144250" y="6348611"/>
            <a:ext cx="6012180" cy="359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 + hooks + email, scheduled</a:t>
            </a:r>
            <a:endParaRPr lang="en-US" sz="1875" dirty="0"/>
          </a:p>
        </p:txBody>
      </p:sp>
      <p:sp>
        <p:nvSpPr>
          <p:cNvPr id="35" name="Text 33"/>
          <p:cNvSpPr/>
          <p:nvPr/>
        </p:nvSpPr>
        <p:spPr>
          <a:xfrm>
            <a:off x="1047750" y="7080515"/>
            <a:ext cx="3657600" cy="36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</a:t>
            </a:r>
            <a:pPr algn="l" indent="0" marL="0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Multiply</a:t>
            </a:r>
            <a:endParaRPr lang="en-US" sz="1875" dirty="0"/>
          </a:p>
        </p:txBody>
      </p:sp>
      <p:sp>
        <p:nvSpPr>
          <p:cNvPr id="36" name="Text 34"/>
          <p:cNvSpPr/>
          <p:nvPr/>
        </p:nvSpPr>
        <p:spPr>
          <a:xfrm>
            <a:off x="4857750" y="7080515"/>
            <a:ext cx="6208396" cy="36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Co-sell with the AWS field</a:t>
            </a:r>
            <a:endParaRPr lang="en-US" sz="1875" dirty="0"/>
          </a:p>
        </p:txBody>
      </p:sp>
      <p:sp>
        <p:nvSpPr>
          <p:cNvPr id="37" name="Text 35"/>
          <p:cNvSpPr/>
          <p:nvPr/>
        </p:nvSpPr>
        <p:spPr>
          <a:xfrm>
            <a:off x="11144250" y="7080515"/>
            <a:ext cx="6012180" cy="36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 opportunity + outreach, sent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39" name="Text 37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617634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1 · INSTALL THE OPERATOR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Put my brain in your stack.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now, we install the </a:t>
            </a:r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GTM Skill Pack 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into an AI tool you own — so you run my operator on your own homework between every session, and keep running it after we’re done.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3989917"/>
            <a:ext cx="7981984" cy="2283520"/>
          </a:xfrm>
          <a:prstGeom prst="roundRect">
            <a:avLst>
              <a:gd name="adj" fmla="val 50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8333" y="4000500"/>
            <a:ext cx="28443" cy="2262353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8" name="Text 6"/>
          <p:cNvSpPr/>
          <p:nvPr/>
        </p:nvSpPr>
        <p:spPr>
          <a:xfrm>
            <a:off x="1439333" y="4343301"/>
            <a:ext cx="741478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TOOL, YOUR ACCOUNT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9333" y="4772918"/>
            <a:ext cx="741478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· GPT · Gemini · Copilot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39333" y="5257602"/>
            <a:ext cx="7414781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full six-skill pack dropped into a Claude Project, Custom GPT, Gem, or agent file — owned by you, live from day one.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58267" y="3989917"/>
            <a:ext cx="7981984" cy="2283520"/>
          </a:xfrm>
          <a:prstGeom prst="roundRect">
            <a:avLst>
              <a:gd name="adj" fmla="val 5005"/>
            </a:avLst>
          </a:prstGeom>
          <a:solidFill>
            <a:srgbClr val="FFFFFF"/>
          </a:solidFill>
          <a:ln w="10583">
            <a:solidFill>
              <a:srgbClr val="EBEB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68851" y="4000500"/>
            <a:ext cx="28443" cy="2262353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3" name="Text 11"/>
          <p:cNvSpPr/>
          <p:nvPr/>
        </p:nvSpPr>
        <p:spPr>
          <a:xfrm>
            <a:off x="9649851" y="4343301"/>
            <a:ext cx="741478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IT DOES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49851" y="4772918"/>
            <a:ext cx="741478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Re-run any skill, any time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49851" y="5257602"/>
            <a:ext cx="7414781" cy="700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Listing rewrites, pricing stories, agent-readiness, campaigns, co-sell outreach — on demand, in your voice, on your product.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6692471"/>
            <a:ext cx="16192501" cy="1973461"/>
          </a:xfrm>
          <a:prstGeom prst="roundRect">
            <a:avLst>
              <a:gd name="adj" fmla="val 5792"/>
            </a:avLst>
          </a:prstGeom>
          <a:solidFill>
            <a:srgbClr val="F3E2FD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7750" y="6692471"/>
            <a:ext cx="28443" cy="1973461"/>
          </a:xfrm>
          <a:prstGeom prst="rect">
            <a:avLst/>
          </a:prstGeom>
          <a:solidFill>
            <a:srgbClr val="330582"/>
          </a:solidFill>
          <a:ln/>
        </p:spPr>
      </p:sp>
      <p:sp>
        <p:nvSpPr>
          <p:cNvPr id="18" name="Text 16"/>
          <p:cNvSpPr/>
          <p:nvPr/>
        </p:nvSpPr>
        <p:spPr>
          <a:xfrm>
            <a:off x="1504818" y="7054288"/>
            <a:ext cx="157367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LEAVE-BEHIND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4818" y="7464889"/>
            <a:ext cx="1573671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output carries one footer: “Want this run for you? Book a call.”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504818" y="7972888"/>
            <a:ext cx="15736716" cy="36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keep the operator. When you want depth or volume, the next step routes back to me.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801"/>
            <a:ext cx="386025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1 · HOMEWORK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553435"/>
            <a:ext cx="16678276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session 2: gather the inputs.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421103"/>
            <a:ext cx="1314640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74D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2 is the listing rewrite — and it starts hot only if these are in hand. Twenty minutes of prep now buys a full working session of build.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5029233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3868043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8" name="Text 6"/>
          <p:cNvSpPr/>
          <p:nvPr/>
        </p:nvSpPr>
        <p:spPr>
          <a:xfrm>
            <a:off x="1123818" y="4305763"/>
            <a:ext cx="76196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14352" y="4117744"/>
            <a:ext cx="4805394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live AWS Marketplace listing URL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2114352" y="4492294"/>
            <a:ext cx="14794986" cy="346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Exactly as a buyer sees it today.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6783183" y="4263430"/>
            <a:ext cx="381000" cy="381000"/>
          </a:xfrm>
          <a:prstGeom prst="roundRect">
            <a:avLst>
              <a:gd name="adj" fmla="val 15000"/>
            </a:avLst>
          </a:prstGeom>
          <a:ln w="10583">
            <a:solidFill>
              <a:srgbClr val="C9C2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7750" y="6190424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3" name="Text 11"/>
          <p:cNvSpPr/>
          <p:nvPr/>
        </p:nvSpPr>
        <p:spPr>
          <a:xfrm>
            <a:off x="1123818" y="5466954"/>
            <a:ext cx="76196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14352" y="5278934"/>
            <a:ext cx="886425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pricing — dimensions, units, and anything behind “contact us”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2114352" y="5653485"/>
            <a:ext cx="14794986" cy="346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session 3.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6783183" y="5424620"/>
            <a:ext cx="381000" cy="381000"/>
          </a:xfrm>
          <a:prstGeom prst="roundRect">
            <a:avLst>
              <a:gd name="adj" fmla="val 15000"/>
            </a:avLst>
          </a:prstGeom>
          <a:ln w="10583">
            <a:solidFill>
              <a:srgbClr val="C9C2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7750" y="7351614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18" name="Text 16"/>
          <p:cNvSpPr/>
          <p:nvPr/>
        </p:nvSpPr>
        <p:spPr>
          <a:xfrm>
            <a:off x="1123818" y="6628144"/>
            <a:ext cx="76196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14352" y="6440124"/>
            <a:ext cx="862477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ICP in one paragraph — who buys, the job they’re hiring you for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2114352" y="6814675"/>
            <a:ext cx="14794986" cy="346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we’re writing to.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6783183" y="6585810"/>
            <a:ext cx="381000" cy="381000"/>
          </a:xfrm>
          <a:prstGeom prst="roundRect">
            <a:avLst>
              <a:gd name="adj" fmla="val 15000"/>
            </a:avLst>
          </a:prstGeom>
          <a:ln w="10583">
            <a:solidFill>
              <a:srgbClr val="C9C2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7750" y="8512804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3" name="Text 21"/>
          <p:cNvSpPr/>
          <p:nvPr/>
        </p:nvSpPr>
        <p:spPr>
          <a:xfrm>
            <a:off x="1123818" y="7789334"/>
            <a:ext cx="76196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05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114352" y="7601314"/>
            <a:ext cx="704330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the Skill Pack is installed and you’ve run it once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2114352" y="7975865"/>
            <a:ext cx="14794986" cy="346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operator is live.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6783183" y="7747000"/>
            <a:ext cx="381000" cy="381000"/>
          </a:xfrm>
          <a:prstGeom prst="roundRect">
            <a:avLst>
              <a:gd name="adj" fmla="val 15000"/>
            </a:avLst>
          </a:prstGeom>
          <a:ln w="10583">
            <a:solidFill>
              <a:srgbClr val="C9C2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7750" y="9122999"/>
            <a:ext cx="16192501" cy="10583"/>
          </a:xfrm>
          <a:prstGeom prst="rect">
            <a:avLst/>
          </a:prstGeom>
          <a:solidFill>
            <a:srgbClr val="EBEBEE"/>
          </a:solidFill>
          <a:ln/>
        </p:spPr>
      </p:sp>
      <p:sp>
        <p:nvSpPr>
          <p:cNvPr id="28" name="Text 26"/>
          <p:cNvSpPr/>
          <p:nvPr/>
        </p:nvSpPr>
        <p:spPr>
          <a:xfrm>
            <a:off x="1047750" y="9391717"/>
            <a:ext cx="24999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046525" y="9381133"/>
            <a:ext cx="226992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670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itsrondavis.com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1A04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8288001" cy="1028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723801"/>
            <a:ext cx="176275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F3E2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RON DAVIS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152483" y="723801"/>
            <a:ext cx="116396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995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10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3287448"/>
            <a:ext cx="14716126" cy="112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250" b="1" spc="-24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listed to bought.</a:t>
            </a:r>
            <a:endParaRPr lang="en-US" sz="8250" dirty="0"/>
          </a:p>
        </p:txBody>
      </p:sp>
      <p:sp>
        <p:nvSpPr>
          <p:cNvPr id="7" name="Text 4"/>
          <p:cNvSpPr/>
          <p:nvPr/>
        </p:nvSpPr>
        <p:spPr>
          <a:xfrm>
            <a:off x="1047750" y="4758035"/>
            <a:ext cx="1157668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D9C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week, session 2: we rewrite your listing for humans and agents — live, in your account. Bring the homework.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047750" y="6148586"/>
            <a:ext cx="4304771" cy="687917"/>
          </a:xfrm>
          <a:prstGeom prst="roundRect">
            <a:avLst>
              <a:gd name="adj" fmla="val 50000"/>
            </a:avLst>
          </a:prstGeom>
          <a:solidFill>
            <a:srgbClr val="F3E2FD"/>
          </a:solidFill>
          <a:ln/>
        </p:spPr>
      </p:sp>
      <p:sp>
        <p:nvSpPr>
          <p:cNvPr id="9" name="Text 6"/>
          <p:cNvSpPr/>
          <p:nvPr/>
        </p:nvSpPr>
        <p:spPr>
          <a:xfrm>
            <a:off x="1504950" y="6339086"/>
            <a:ext cx="3519514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0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itsrondavis.com · Book a call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1047750" y="9103982"/>
            <a:ext cx="16192501" cy="10583"/>
          </a:xfrm>
          <a:prstGeom prst="rect">
            <a:avLst/>
          </a:prstGeom>
          <a:solidFill>
            <a:srgbClr val="F3E2FD">
              <a:alpha val="2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047750" y="9391717"/>
            <a:ext cx="314335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95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 GTM Coaching · Ron Davis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169099" y="9381133"/>
            <a:ext cx="3163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A995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2 · Get found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2026-06-09T20:28:38Z</dcterms:created>
  <dcterms:modified xsi:type="dcterms:W3CDTF">2026-06-09T20:28:38Z</dcterms:modified>
</cp:coreProperties>
</file>