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1A04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8288001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723801"/>
            <a:ext cx="176275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3E2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RON DAVIS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287831" y="723801"/>
            <a:ext cx="304099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Marketplace GTM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2941009"/>
            <a:ext cx="16678276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29" kern="0" dirty="0">
                <a:solidFill>
                  <a:srgbClr val="F3E2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4 · FUTURE-PROOF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47750" y="3554843"/>
            <a:ext cx="14225589" cy="2447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300" b="1" spc="-27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bought when the buyer is an agent.</a:t>
            </a:r>
            <a:endParaRPr lang="en-US" sz="9300" dirty="0"/>
          </a:p>
        </p:txBody>
      </p:sp>
      <p:sp>
        <p:nvSpPr>
          <p:cNvPr id="8" name="Text 5"/>
          <p:cNvSpPr/>
          <p:nvPr/>
        </p:nvSpPr>
        <p:spPr>
          <a:xfrm>
            <a:off x="1047750" y="6325692"/>
            <a:ext cx="1157668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D9C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agents are starting to shop, evaluate, and transact. Today we make your product discoverable and purchasable when no human is in the loop.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1047750" y="9103982"/>
            <a:ext cx="16192501" cy="10583"/>
          </a:xfrm>
          <a:prstGeom prst="rect">
            <a:avLst/>
          </a:prstGeom>
          <a:solidFill>
            <a:srgbClr val="F3E2FD">
              <a:alpha val="22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47750" y="9391717"/>
            <a:ext cx="334485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 GTM Coaching · Ron Davis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022917" y="9381133"/>
            <a:ext cx="331385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listed to bought.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405323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4 · THE SHIFT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new buyer just showed up.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Procurement research, vendor comparison, and increasingly the purchase itself are moving to AI agents. They don’t read your homepage —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parse your data and match it to a requirement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658692"/>
            <a:ext cx="5245034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3669275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4012076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 SHOPS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333" y="4441693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39333" y="4926377"/>
            <a:ext cx="459572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agent gathers candidate vendors from listings, docs, and the catalog — by requirement, not brand.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21318" y="3658692"/>
            <a:ext cx="5245200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1901" y="3669275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3" name="Text 11"/>
          <p:cNvSpPr/>
          <p:nvPr/>
        </p:nvSpPr>
        <p:spPr>
          <a:xfrm>
            <a:off x="6912901" y="4012076"/>
            <a:ext cx="459589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 JUDGES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12901" y="4441693"/>
            <a:ext cx="459589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12901" y="4926377"/>
            <a:ext cx="459589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compares specs, units, and terms against the buyer’s constraints — and silently drops what it can’t parse.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995052" y="3658692"/>
            <a:ext cx="5245034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5635" y="3669275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6635" y="4012076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 ACTS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86635" y="4441693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386635" y="4926377"/>
            <a:ext cx="459572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path is machine-readable, it can move to purchase without waiting on a human handshake.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6692471"/>
            <a:ext cx="16192501" cy="1973461"/>
          </a:xfrm>
          <a:prstGeom prst="roundRect">
            <a:avLst>
              <a:gd name="adj" fmla="val 5792"/>
            </a:avLst>
          </a:prstGeom>
          <a:solidFill>
            <a:srgbClr val="F3E2FD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7750" y="6692471"/>
            <a:ext cx="28443" cy="1973461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23" name="Text 21"/>
          <p:cNvSpPr/>
          <p:nvPr/>
        </p:nvSpPr>
        <p:spPr>
          <a:xfrm>
            <a:off x="1504818" y="7054288"/>
            <a:ext cx="157367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STAKES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04818" y="7464889"/>
            <a:ext cx="1573671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agent doesn’t ask follow-up questions. Ambiguity isn’t a conversation — it’s a disqualification.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504818" y="7972888"/>
            <a:ext cx="15736716" cy="36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gap a human would forgive, an agent treats as a “no.” Agent-ready is just clarity, made literal.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7" name="Text 25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405323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4 · THE FRAME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machine-legible product statement.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Strip the marketing voice. State what it is, the job it does, and its inputs and outputs — in plain nouns an agent can match to a requirement.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725664"/>
            <a:ext cx="16192501" cy="4940267"/>
          </a:xfrm>
          <a:prstGeom prst="roundRect">
            <a:avLst>
              <a:gd name="adj" fmla="val 2314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15401" y="4897272"/>
            <a:ext cx="15257199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8" name="Shape 6"/>
          <p:cNvSpPr/>
          <p:nvPr/>
        </p:nvSpPr>
        <p:spPr>
          <a:xfrm>
            <a:off x="1515401" y="4031589"/>
            <a:ext cx="15257199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9" name="Text 7"/>
          <p:cNvSpPr/>
          <p:nvPr/>
        </p:nvSpPr>
        <p:spPr>
          <a:xfrm>
            <a:off x="1591469" y="4289723"/>
            <a:ext cx="2552700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448969" y="4289723"/>
            <a:ext cx="12614990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it is, in </a:t>
            </a:r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literal noun phrase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515401" y="5762956"/>
            <a:ext cx="15257199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2" name="Text 10"/>
          <p:cNvSpPr/>
          <p:nvPr/>
        </p:nvSpPr>
        <p:spPr>
          <a:xfrm>
            <a:off x="1591469" y="5155406"/>
            <a:ext cx="2552700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job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448969" y="5155406"/>
            <a:ext cx="12614990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task it completes for the buyer.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515401" y="6628640"/>
            <a:ext cx="15257199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5" name="Text 13"/>
          <p:cNvSpPr/>
          <p:nvPr/>
        </p:nvSpPr>
        <p:spPr>
          <a:xfrm>
            <a:off x="1591469" y="6021090"/>
            <a:ext cx="2552700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448969" y="6021090"/>
            <a:ext cx="12614990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it takes in — data, scope, prerequisites.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515401" y="7494324"/>
            <a:ext cx="15257199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8" name="Text 16"/>
          <p:cNvSpPr/>
          <p:nvPr/>
        </p:nvSpPr>
        <p:spPr>
          <a:xfrm>
            <a:off x="1591469" y="6886774"/>
            <a:ext cx="2552700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448969" y="6886774"/>
            <a:ext cx="12614990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it produces, in measurable terms.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591469" y="7752458"/>
            <a:ext cx="2552700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limits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4448969" y="7752458"/>
            <a:ext cx="12614990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it does </a:t>
            </a:r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 — so the agent doesn’t mis-match.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482532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4 · TRIGGER TASKS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“When an agent is doing X, you’re the right tool.”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agent picks tools by the task in front of it. Trigger tasks are the specific jobs where you should be the obvious choice — named so explicitly an agent reaches for you.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619500"/>
            <a:ext cx="5245034" cy="2653936"/>
          </a:xfrm>
          <a:prstGeom prst="roundRect">
            <a:avLst>
              <a:gd name="adj" fmla="val 4307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3630083"/>
            <a:ext cx="28443" cy="2632770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3972884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RULE ONE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333" y="4402502"/>
            <a:ext cx="4595724" cy="778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task, not your category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39333" y="5257602"/>
            <a:ext cx="459572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“When reconciling multi-cloud spend,” not “FinOps platform.”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21318" y="3619500"/>
            <a:ext cx="5245200" cy="2653936"/>
          </a:xfrm>
          <a:prstGeom prst="roundRect">
            <a:avLst>
              <a:gd name="adj" fmla="val 4307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1901" y="3630083"/>
            <a:ext cx="28443" cy="2632770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3" name="Text 11"/>
          <p:cNvSpPr/>
          <p:nvPr/>
        </p:nvSpPr>
        <p:spPr>
          <a:xfrm>
            <a:off x="6912901" y="3972884"/>
            <a:ext cx="459589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RULE TWO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12901" y="4402502"/>
            <a:ext cx="459589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it matchable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12901" y="4887185"/>
            <a:ext cx="459589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Phrase it the way the requirement would arrive: a verb plus an object.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995052" y="3619500"/>
            <a:ext cx="5245034" cy="2653936"/>
          </a:xfrm>
          <a:prstGeom prst="roundRect">
            <a:avLst>
              <a:gd name="adj" fmla="val 4307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5635" y="3630083"/>
            <a:ext cx="28443" cy="2632770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6635" y="3972884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RULE THREE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86635" y="4402502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 the top three jobs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386635" y="4887185"/>
            <a:ext cx="459572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ones you uniquely win — depth beats a long, vague list.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6692471"/>
            <a:ext cx="16192501" cy="1973461"/>
          </a:xfrm>
          <a:prstGeom prst="roundRect">
            <a:avLst>
              <a:gd name="adj" fmla="val 5792"/>
            </a:avLst>
          </a:prstGeom>
          <a:solidFill>
            <a:srgbClr val="F3E2FD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7750" y="6692471"/>
            <a:ext cx="28443" cy="1973461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23" name="Text 21"/>
          <p:cNvSpPr/>
          <p:nvPr/>
        </p:nvSpPr>
        <p:spPr>
          <a:xfrm>
            <a:off x="1504818" y="7054288"/>
            <a:ext cx="157367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04818" y="7464889"/>
            <a:ext cx="1573671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select on the job-to-be-done. If you’re not described as a job, you’re not in the running.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504818" y="7972888"/>
            <a:ext cx="15736716" cy="36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trigger-task list is the bridge between what you do and what an agent is actually trying to accomplish.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7" name="Text 25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829945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4 · LIVE BUILD · YOUR TRIGGER TASKS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your trigger-task list.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draft the three tasks where an agent should choose you — phrased as the requirement would arrive, not as your pitch.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5298612"/>
            <a:ext cx="1143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4836253"/>
            <a:ext cx="95250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90750" y="5298612"/>
            <a:ext cx="7239001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9" name="Text 7"/>
          <p:cNvSpPr/>
          <p:nvPr/>
        </p:nvSpPr>
        <p:spPr>
          <a:xfrm>
            <a:off x="2190750" y="4836253"/>
            <a:ext cx="7189471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“WHEN AN AGENT IS DOING…”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429751" y="5298612"/>
            <a:ext cx="7810501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11" name="Text 9"/>
          <p:cNvSpPr/>
          <p:nvPr/>
        </p:nvSpPr>
        <p:spPr>
          <a:xfrm>
            <a:off x="9429751" y="4836253"/>
            <a:ext cx="7778116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“…REACH FOR US BECAUSE”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6049037"/>
            <a:ext cx="1143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5509221"/>
            <a:ext cx="952500" cy="37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190750" y="6049037"/>
            <a:ext cx="72390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5765767"/>
            <a:ext cx="59055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16" name="Shape 14"/>
          <p:cNvSpPr/>
          <p:nvPr/>
        </p:nvSpPr>
        <p:spPr>
          <a:xfrm>
            <a:off x="9429751" y="6049037"/>
            <a:ext cx="7810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7" name="Shape 15"/>
          <p:cNvSpPr/>
          <p:nvPr/>
        </p:nvSpPr>
        <p:spPr>
          <a:xfrm>
            <a:off x="9429751" y="5765767"/>
            <a:ext cx="59055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7750" y="6799461"/>
            <a:ext cx="1143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6259645"/>
            <a:ext cx="952500" cy="37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190750" y="6799461"/>
            <a:ext cx="72390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6516192"/>
            <a:ext cx="59055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22" name="Shape 20"/>
          <p:cNvSpPr/>
          <p:nvPr/>
        </p:nvSpPr>
        <p:spPr>
          <a:xfrm>
            <a:off x="9429751" y="6799461"/>
            <a:ext cx="7810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3" name="Shape 21"/>
          <p:cNvSpPr/>
          <p:nvPr/>
        </p:nvSpPr>
        <p:spPr>
          <a:xfrm>
            <a:off x="9429751" y="6516192"/>
            <a:ext cx="59055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24" name="Text 22"/>
          <p:cNvSpPr/>
          <p:nvPr/>
        </p:nvSpPr>
        <p:spPr>
          <a:xfrm>
            <a:off x="1047750" y="7010070"/>
            <a:ext cx="952500" cy="383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190750" y="7266616"/>
            <a:ext cx="59055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26" name="Shape 24"/>
          <p:cNvSpPr/>
          <p:nvPr/>
        </p:nvSpPr>
        <p:spPr>
          <a:xfrm>
            <a:off x="9429751" y="7266616"/>
            <a:ext cx="59055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27" name="Shape 25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636932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4 · DISCOVERABILITY AUDIT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everything structured and parseable?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walk your listing, docs, and pricing and ask one question of each surface: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a machine extract clean facts, or is it prose it has to guess at?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6051186"/>
            <a:ext cx="5245034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6061770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6404571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SURFACE ONE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333" y="6834188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Listing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39333" y="7318871"/>
            <a:ext cx="459572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Capabilities, limits, and use-cases in consistent structure — not one paragraph an agent must summarize.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21318" y="6051186"/>
            <a:ext cx="5245200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1901" y="6061770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3" name="Text 11"/>
          <p:cNvSpPr/>
          <p:nvPr/>
        </p:nvSpPr>
        <p:spPr>
          <a:xfrm>
            <a:off x="6912901" y="6404571"/>
            <a:ext cx="459589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SURFACE TWO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12901" y="6834188"/>
            <a:ext cx="459589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12901" y="7318871"/>
            <a:ext cx="459589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Inputs, outputs, integrations, and constraints stated literally and findable — the agent’s evidence layer.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995052" y="6051186"/>
            <a:ext cx="5245034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5635" y="6061770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6635" y="6404571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SURFACE THREE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86635" y="6834188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386635" y="7318871"/>
            <a:ext cx="459572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Expressible as data: units, rates, and a base path the agent can compute without a call.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579038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4 · FLAG THE AMBIGUITY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an agent trips.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Humans fill gaps with assumptions; agents stall on them. We hunt down the specific places your content forces a guess — and replace the guess with a fact.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4960442"/>
            <a:ext cx="4572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4498082"/>
            <a:ext cx="444246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TRIPWIRE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19750" y="4960442"/>
            <a:ext cx="116205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9" name="Text 7"/>
          <p:cNvSpPr/>
          <p:nvPr/>
        </p:nvSpPr>
        <p:spPr>
          <a:xfrm>
            <a:off x="5619750" y="4498082"/>
            <a:ext cx="11702415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IT DISQUALIFIES YOU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5692345"/>
            <a:ext cx="4572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5171050"/>
            <a:ext cx="444246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Vague capability claims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5619750" y="5692345"/>
            <a:ext cx="11620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3" name="Text 11"/>
          <p:cNvSpPr/>
          <p:nvPr/>
        </p:nvSpPr>
        <p:spPr>
          <a:xfrm>
            <a:off x="5619750" y="5171050"/>
            <a:ext cx="11702415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“Powerful,” “flexible,” “enterprise-grade” carry zero matchable meaning.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047750" y="6424249"/>
            <a:ext cx="4572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5902954"/>
            <a:ext cx="444246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Implied units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5619750" y="6424249"/>
            <a:ext cx="11620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7" name="Text 15"/>
          <p:cNvSpPr/>
          <p:nvPr/>
        </p:nvSpPr>
        <p:spPr>
          <a:xfrm>
            <a:off x="5619750" y="5902954"/>
            <a:ext cx="11702415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or limits a human infers but an agent can’t extract.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047750" y="7156153"/>
            <a:ext cx="4572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6634857"/>
            <a:ext cx="444246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limits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5619750" y="7156153"/>
            <a:ext cx="11620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1" name="Text 19"/>
          <p:cNvSpPr/>
          <p:nvPr/>
        </p:nvSpPr>
        <p:spPr>
          <a:xfrm>
            <a:off x="5619750" y="6634857"/>
            <a:ext cx="11702415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statement of what you don’t do, so the agent mis-matches you to the wrong job.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47750" y="7366761"/>
            <a:ext cx="4442460" cy="36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Conflicting facts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5619750" y="7366761"/>
            <a:ext cx="11702415" cy="36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listing, docs, and pricing — the agent can’t tell which to trust.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5211280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4 · TRANSACTABILITY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 an agent can accept.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Being chosen isn’t enough if the agent can’t complete the purchase. The base path has to be clear units, predictable cost, and terms that don’t require a human to sign.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989917"/>
            <a:ext cx="5245034" cy="2283520"/>
          </a:xfrm>
          <a:prstGeom prst="roundRect">
            <a:avLst>
              <a:gd name="adj" fmla="val 50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4000500"/>
            <a:ext cx="28443" cy="226235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4343301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333" y="4772918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units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39333" y="5257602"/>
            <a:ext cx="459572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named, defined unit the agent reads and reasons about — not a bespoke quote.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21318" y="3989917"/>
            <a:ext cx="5245200" cy="2283520"/>
          </a:xfrm>
          <a:prstGeom prst="roundRect">
            <a:avLst>
              <a:gd name="adj" fmla="val 50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1901" y="4000500"/>
            <a:ext cx="28443" cy="226235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3" name="Text 11"/>
          <p:cNvSpPr/>
          <p:nvPr/>
        </p:nvSpPr>
        <p:spPr>
          <a:xfrm>
            <a:off x="6912901" y="4343301"/>
            <a:ext cx="459589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12901" y="4772918"/>
            <a:ext cx="459589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Predictable cost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12901" y="5257602"/>
            <a:ext cx="459589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Computable from inputs before commit, so the agent can budget and decide.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995052" y="3989917"/>
            <a:ext cx="5245034" cy="2283520"/>
          </a:xfrm>
          <a:prstGeom prst="roundRect">
            <a:avLst>
              <a:gd name="adj" fmla="val 50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5635" y="4000500"/>
            <a:ext cx="28443" cy="226235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6635" y="4343301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TERMS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86635" y="4772918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Acceptable terms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386635" y="5257602"/>
            <a:ext cx="459572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contract or metered path the agent can accept without a handshake.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6692471"/>
            <a:ext cx="16192501" cy="1973461"/>
          </a:xfrm>
          <a:prstGeom prst="roundRect">
            <a:avLst>
              <a:gd name="adj" fmla="val 5792"/>
            </a:avLst>
          </a:prstGeom>
          <a:solidFill>
            <a:srgbClr val="F3E2FD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7750" y="6692471"/>
            <a:ext cx="28443" cy="1973461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23" name="Text 21"/>
          <p:cNvSpPr/>
          <p:nvPr/>
        </p:nvSpPr>
        <p:spPr>
          <a:xfrm>
            <a:off x="1504818" y="7054288"/>
            <a:ext cx="157367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BRIDGE TO SESSION 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04818" y="7464889"/>
            <a:ext cx="1573671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Agent-ready pricing and a procurement-defensible price are the same work.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504818" y="7972888"/>
            <a:ext cx="15736716" cy="36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self-serve, legible path you built last session is exactly what makes you transactable here.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7" name="Text 25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887838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4 · LIVE BUILD · THE ORDERED CHECKLIST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agent-ready checklist, by impact.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3128863"/>
            <a:ext cx="1143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2666504"/>
            <a:ext cx="95250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90750" y="3128863"/>
            <a:ext cx="6667501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8" name="Text 6"/>
          <p:cNvSpPr/>
          <p:nvPr/>
        </p:nvSpPr>
        <p:spPr>
          <a:xfrm>
            <a:off x="2190750" y="2666504"/>
            <a:ext cx="6600826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FIX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858251" y="3128863"/>
            <a:ext cx="6096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10" name="Text 8"/>
          <p:cNvSpPr/>
          <p:nvPr/>
        </p:nvSpPr>
        <p:spPr>
          <a:xfrm>
            <a:off x="8858251" y="2666504"/>
            <a:ext cx="601218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IT MEANS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954251" y="3128863"/>
            <a:ext cx="2286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12" name="Text 10"/>
          <p:cNvSpPr/>
          <p:nvPr/>
        </p:nvSpPr>
        <p:spPr>
          <a:xfrm>
            <a:off x="14954251" y="2666504"/>
            <a:ext cx="209550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IMPACT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7750" y="3923771"/>
            <a:ext cx="1143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3339472"/>
            <a:ext cx="952500" cy="422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190750" y="3923771"/>
            <a:ext cx="6667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6" name="Text 14"/>
          <p:cNvSpPr/>
          <p:nvPr/>
        </p:nvSpPr>
        <p:spPr>
          <a:xfrm>
            <a:off x="2190750" y="3339472"/>
            <a:ext cx="6600826" cy="422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Machine-legible product statement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8858251" y="3923771"/>
            <a:ext cx="609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8" name="Text 16"/>
          <p:cNvSpPr/>
          <p:nvPr/>
        </p:nvSpPr>
        <p:spPr>
          <a:xfrm>
            <a:off x="8858251" y="3339472"/>
            <a:ext cx="6012180" cy="422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/ job / inputs / outputs / limits, published.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4954251" y="3923771"/>
            <a:ext cx="228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0" name="Shape 18"/>
          <p:cNvSpPr/>
          <p:nvPr/>
        </p:nvSpPr>
        <p:spPr>
          <a:xfrm>
            <a:off x="14954251" y="3344664"/>
            <a:ext cx="1151268" cy="384473"/>
          </a:xfrm>
          <a:prstGeom prst="roundRect">
            <a:avLst>
              <a:gd name="adj" fmla="val 14865"/>
            </a:avLst>
          </a:prstGeom>
          <a:solidFill>
            <a:srgbClr val="F3E2FD"/>
          </a:solidFill>
          <a:ln/>
        </p:spPr>
      </p:sp>
      <p:sp>
        <p:nvSpPr>
          <p:cNvPr id="21" name="Text 19"/>
          <p:cNvSpPr/>
          <p:nvPr/>
        </p:nvSpPr>
        <p:spPr>
          <a:xfrm>
            <a:off x="15106651" y="3382764"/>
            <a:ext cx="922668" cy="346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47750" y="4977143"/>
            <a:ext cx="1143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4134379"/>
            <a:ext cx="952500" cy="6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190750" y="4977143"/>
            <a:ext cx="6667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5" name="Text 23"/>
          <p:cNvSpPr/>
          <p:nvPr/>
        </p:nvSpPr>
        <p:spPr>
          <a:xfrm>
            <a:off x="2190750" y="4134379"/>
            <a:ext cx="6600826" cy="6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Trigger-task list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8858251" y="4977143"/>
            <a:ext cx="609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7" name="Text 25"/>
          <p:cNvSpPr/>
          <p:nvPr/>
        </p:nvSpPr>
        <p:spPr>
          <a:xfrm>
            <a:off x="8858251" y="4134379"/>
            <a:ext cx="6012180" cy="6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three jobs where an agent should pick you, phrased to match.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4954251" y="4977143"/>
            <a:ext cx="228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4954251" y="4268721"/>
            <a:ext cx="1151268" cy="384473"/>
          </a:xfrm>
          <a:prstGeom prst="roundRect">
            <a:avLst>
              <a:gd name="adj" fmla="val 14865"/>
            </a:avLst>
          </a:prstGeom>
          <a:solidFill>
            <a:srgbClr val="F3E2FD"/>
          </a:solidFill>
          <a:ln/>
        </p:spPr>
      </p:sp>
      <p:sp>
        <p:nvSpPr>
          <p:cNvPr id="30" name="Text 28"/>
          <p:cNvSpPr/>
          <p:nvPr/>
        </p:nvSpPr>
        <p:spPr>
          <a:xfrm>
            <a:off x="15106651" y="4306821"/>
            <a:ext cx="922668" cy="346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47750" y="5772051"/>
            <a:ext cx="1143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2" name="Text 30"/>
          <p:cNvSpPr/>
          <p:nvPr/>
        </p:nvSpPr>
        <p:spPr>
          <a:xfrm>
            <a:off x="1047750" y="5187752"/>
            <a:ext cx="952500" cy="422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190750" y="5772051"/>
            <a:ext cx="6667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4" name="Text 32"/>
          <p:cNvSpPr/>
          <p:nvPr/>
        </p:nvSpPr>
        <p:spPr>
          <a:xfrm>
            <a:off x="2190750" y="5187752"/>
            <a:ext cx="6600826" cy="422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base pricing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8858251" y="5772051"/>
            <a:ext cx="609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6" name="Text 34"/>
          <p:cNvSpPr/>
          <p:nvPr/>
        </p:nvSpPr>
        <p:spPr>
          <a:xfrm>
            <a:off x="8858251" y="5187752"/>
            <a:ext cx="6012180" cy="422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self-serve path expressible as data, no “contact us.”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14954251" y="5772051"/>
            <a:ext cx="228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4954251" y="5192944"/>
            <a:ext cx="809790" cy="384473"/>
          </a:xfrm>
          <a:prstGeom prst="roundRect">
            <a:avLst>
              <a:gd name="adj" fmla="val 14865"/>
            </a:avLst>
          </a:prstGeom>
          <a:solidFill>
            <a:srgbClr val="F3E2FD"/>
          </a:solidFill>
          <a:ln/>
        </p:spPr>
      </p:sp>
      <p:sp>
        <p:nvSpPr>
          <p:cNvPr id="39" name="Text 37"/>
          <p:cNvSpPr/>
          <p:nvPr/>
        </p:nvSpPr>
        <p:spPr>
          <a:xfrm>
            <a:off x="15106651" y="5231044"/>
            <a:ext cx="581190" cy="346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047750" y="6825423"/>
            <a:ext cx="1143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41" name="Text 39"/>
          <p:cNvSpPr/>
          <p:nvPr/>
        </p:nvSpPr>
        <p:spPr>
          <a:xfrm>
            <a:off x="1047750" y="5982659"/>
            <a:ext cx="952500" cy="6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2190750" y="6825423"/>
            <a:ext cx="6667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43" name="Text 41"/>
          <p:cNvSpPr/>
          <p:nvPr/>
        </p:nvSpPr>
        <p:spPr>
          <a:xfrm>
            <a:off x="2190750" y="5982659"/>
            <a:ext cx="6600826" cy="6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listing description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8858251" y="6825423"/>
            <a:ext cx="609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45" name="Text 43"/>
          <p:cNvSpPr/>
          <p:nvPr/>
        </p:nvSpPr>
        <p:spPr>
          <a:xfrm>
            <a:off x="8858251" y="5982659"/>
            <a:ext cx="6012180" cy="6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Capabilities and use-cases in consistent, scannable structure.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14954251" y="6825423"/>
            <a:ext cx="228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47" name="Shape 45"/>
          <p:cNvSpPr/>
          <p:nvPr/>
        </p:nvSpPr>
        <p:spPr>
          <a:xfrm>
            <a:off x="14954251" y="6117002"/>
            <a:ext cx="809790" cy="384473"/>
          </a:xfrm>
          <a:prstGeom prst="roundRect">
            <a:avLst>
              <a:gd name="adj" fmla="val 14865"/>
            </a:avLst>
          </a:prstGeom>
          <a:solidFill>
            <a:srgbClr val="F4F4F6"/>
          </a:solidFill>
          <a:ln/>
        </p:spPr>
      </p:sp>
      <p:sp>
        <p:nvSpPr>
          <p:cNvPr id="48" name="Text 46"/>
          <p:cNvSpPr/>
          <p:nvPr/>
        </p:nvSpPr>
        <p:spPr>
          <a:xfrm>
            <a:off x="15106651" y="6155102"/>
            <a:ext cx="581190" cy="346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047750" y="7620331"/>
            <a:ext cx="1143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50" name="Text 48"/>
          <p:cNvSpPr/>
          <p:nvPr/>
        </p:nvSpPr>
        <p:spPr>
          <a:xfrm>
            <a:off x="1047750" y="7036032"/>
            <a:ext cx="952500" cy="422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2190750" y="7620331"/>
            <a:ext cx="6667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52" name="Text 50"/>
          <p:cNvSpPr/>
          <p:nvPr/>
        </p:nvSpPr>
        <p:spPr>
          <a:xfrm>
            <a:off x="2190750" y="7036032"/>
            <a:ext cx="6600826" cy="422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Machine-consumable specs in docs</a:t>
            </a:r>
            <a:endParaRPr lang="en-US" sz="1875" dirty="0"/>
          </a:p>
        </p:txBody>
      </p:sp>
      <p:sp>
        <p:nvSpPr>
          <p:cNvPr id="53" name="Shape 51"/>
          <p:cNvSpPr/>
          <p:nvPr/>
        </p:nvSpPr>
        <p:spPr>
          <a:xfrm>
            <a:off x="8858251" y="7620331"/>
            <a:ext cx="609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54" name="Text 52"/>
          <p:cNvSpPr/>
          <p:nvPr/>
        </p:nvSpPr>
        <p:spPr>
          <a:xfrm>
            <a:off x="8858251" y="7036032"/>
            <a:ext cx="6012180" cy="422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Inputs, outputs, integrations, constraints, literal.</a:t>
            </a:r>
            <a:endParaRPr lang="en-US" sz="1875" dirty="0"/>
          </a:p>
        </p:txBody>
      </p:sp>
      <p:sp>
        <p:nvSpPr>
          <p:cNvPr id="55" name="Shape 53"/>
          <p:cNvSpPr/>
          <p:nvPr/>
        </p:nvSpPr>
        <p:spPr>
          <a:xfrm>
            <a:off x="14954251" y="7620331"/>
            <a:ext cx="228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56" name="Shape 54"/>
          <p:cNvSpPr/>
          <p:nvPr/>
        </p:nvSpPr>
        <p:spPr>
          <a:xfrm>
            <a:off x="14954251" y="7041224"/>
            <a:ext cx="1181530" cy="384473"/>
          </a:xfrm>
          <a:prstGeom prst="roundRect">
            <a:avLst>
              <a:gd name="adj" fmla="val 14865"/>
            </a:avLst>
          </a:prstGeom>
          <a:solidFill>
            <a:srgbClr val="F4F4F6"/>
          </a:solidFill>
          <a:ln/>
        </p:spPr>
      </p:sp>
      <p:sp>
        <p:nvSpPr>
          <p:cNvPr id="57" name="Text 55"/>
          <p:cNvSpPr/>
          <p:nvPr/>
        </p:nvSpPr>
        <p:spPr>
          <a:xfrm>
            <a:off x="15106651" y="7079324"/>
            <a:ext cx="952930" cy="346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047750" y="7830939"/>
            <a:ext cx="952500" cy="427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2190750" y="7830939"/>
            <a:ext cx="6600826" cy="427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 ambiguity &amp; conflicts</a:t>
            </a:r>
            <a:endParaRPr lang="en-US" sz="1875" dirty="0"/>
          </a:p>
        </p:txBody>
      </p:sp>
      <p:sp>
        <p:nvSpPr>
          <p:cNvPr id="60" name="Text 58"/>
          <p:cNvSpPr/>
          <p:nvPr/>
        </p:nvSpPr>
        <p:spPr>
          <a:xfrm>
            <a:off x="8858251" y="7830939"/>
            <a:ext cx="6012180" cy="427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 facts across listing, docs, and pricing.</a:t>
            </a:r>
            <a:endParaRPr lang="en-US" sz="1875" dirty="0"/>
          </a:p>
        </p:txBody>
      </p:sp>
      <p:sp>
        <p:nvSpPr>
          <p:cNvPr id="61" name="Shape 59"/>
          <p:cNvSpPr/>
          <p:nvPr/>
        </p:nvSpPr>
        <p:spPr>
          <a:xfrm>
            <a:off x="14954251" y="7836132"/>
            <a:ext cx="1181530" cy="384473"/>
          </a:xfrm>
          <a:prstGeom prst="roundRect">
            <a:avLst>
              <a:gd name="adj" fmla="val 14865"/>
            </a:avLst>
          </a:prstGeom>
          <a:solidFill>
            <a:srgbClr val="F4F4F6"/>
          </a:solidFill>
          <a:ln/>
        </p:spPr>
      </p:sp>
      <p:sp>
        <p:nvSpPr>
          <p:cNvPr id="62" name="Text 60"/>
          <p:cNvSpPr/>
          <p:nvPr/>
        </p:nvSpPr>
        <p:spPr>
          <a:xfrm>
            <a:off x="15106651" y="7874232"/>
            <a:ext cx="952930" cy="346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64" name="Text 62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386025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4 · HOMEWORK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the top three.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checklist is ordered for a reason — the first three fixes carry most of the gain. Ship those this week; the rest follow.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5029233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3868043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8" name="Text 6"/>
          <p:cNvSpPr/>
          <p:nvPr/>
        </p:nvSpPr>
        <p:spPr>
          <a:xfrm>
            <a:off x="1123818" y="4305763"/>
            <a:ext cx="7619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14352" y="4117744"/>
            <a:ext cx="594010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the machine-legible product statement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2114352" y="4492294"/>
            <a:ext cx="14794986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/ job / inputs / outputs / limits.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6783183" y="4263430"/>
            <a:ext cx="381000" cy="381000"/>
          </a:xfrm>
          <a:prstGeom prst="roundRect">
            <a:avLst>
              <a:gd name="adj" fmla="val 15000"/>
            </a:avLst>
          </a:prstGeom>
          <a:ln w="10583">
            <a:solidFill>
              <a:srgbClr val="C9C2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7750" y="6190424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3" name="Text 11"/>
          <p:cNvSpPr/>
          <p:nvPr/>
        </p:nvSpPr>
        <p:spPr>
          <a:xfrm>
            <a:off x="1123818" y="5466954"/>
            <a:ext cx="7619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14352" y="5278934"/>
            <a:ext cx="744390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Restructure the listing description into scannable structure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2114352" y="5653485"/>
            <a:ext cx="14794986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more prose blob.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6783183" y="5424620"/>
            <a:ext cx="381000" cy="381000"/>
          </a:xfrm>
          <a:prstGeom prst="roundRect">
            <a:avLst>
              <a:gd name="adj" fmla="val 15000"/>
            </a:avLst>
          </a:prstGeom>
          <a:ln w="10583">
            <a:solidFill>
              <a:srgbClr val="C9C2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7750" y="7351614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8" name="Text 16"/>
          <p:cNvSpPr/>
          <p:nvPr/>
        </p:nvSpPr>
        <p:spPr>
          <a:xfrm>
            <a:off x="1123818" y="6628144"/>
            <a:ext cx="7619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14352" y="6440124"/>
            <a:ext cx="70647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base pricing path deterministic and self-serve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2114352" y="6814675"/>
            <a:ext cx="14794986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agent can transact.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6783183" y="6585810"/>
            <a:ext cx="381000" cy="381000"/>
          </a:xfrm>
          <a:prstGeom prst="roundRect">
            <a:avLst>
              <a:gd name="adj" fmla="val 15000"/>
            </a:avLst>
          </a:prstGeom>
          <a:ln w="10583">
            <a:solidFill>
              <a:srgbClr val="C9C2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7750" y="8512804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3" name="Text 21"/>
          <p:cNvSpPr/>
          <p:nvPr/>
        </p:nvSpPr>
        <p:spPr>
          <a:xfrm>
            <a:off x="1123818" y="7789334"/>
            <a:ext cx="7619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114352" y="7601314"/>
            <a:ext cx="674540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Re-run Agent-Ready Positioning to test the new copy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2114352" y="7975865"/>
            <a:ext cx="14794986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it parses cleanly.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6783183" y="7747000"/>
            <a:ext cx="381000" cy="381000"/>
          </a:xfrm>
          <a:prstGeom prst="roundRect">
            <a:avLst>
              <a:gd name="adj" fmla="val 15000"/>
            </a:avLst>
          </a:prstGeom>
          <a:ln w="10583">
            <a:solidFill>
              <a:srgbClr val="C9C2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1A04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8288001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723801"/>
            <a:ext cx="176275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3E2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RON DAVIS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10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2742737"/>
            <a:ext cx="14716126" cy="2217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250" b="1" spc="-24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Legible to every buyer. Next: demand.</a:t>
            </a:r>
            <a:endParaRPr lang="en-US" sz="8250" dirty="0"/>
          </a:p>
        </p:txBody>
      </p:sp>
      <p:sp>
        <p:nvSpPr>
          <p:cNvPr id="7" name="Text 4"/>
          <p:cNvSpPr/>
          <p:nvPr/>
        </p:nvSpPr>
        <p:spPr>
          <a:xfrm>
            <a:off x="1047750" y="5302912"/>
            <a:ext cx="1157668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D9C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week, session 5: the listing doesn’t sell itself — we build the 4-week demand engine that drives the right buyers to it, and draft week one live.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6693462"/>
            <a:ext cx="4304771" cy="687917"/>
          </a:xfrm>
          <a:prstGeom prst="roundRect">
            <a:avLst>
              <a:gd name="adj" fmla="val 50000"/>
            </a:avLst>
          </a:prstGeom>
          <a:solidFill>
            <a:srgbClr val="F3E2FD"/>
          </a:solidFill>
          <a:ln/>
        </p:spPr>
      </p:sp>
      <p:sp>
        <p:nvSpPr>
          <p:cNvPr id="9" name="Text 6"/>
          <p:cNvSpPr/>
          <p:nvPr/>
        </p:nvSpPr>
        <p:spPr>
          <a:xfrm>
            <a:off x="1504950" y="6883962"/>
            <a:ext cx="3519514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0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itsrondavis.com · Book a call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1047750" y="9103982"/>
            <a:ext cx="16192501" cy="10583"/>
          </a:xfrm>
          <a:prstGeom prst="rect">
            <a:avLst/>
          </a:prstGeom>
          <a:solidFill>
            <a:srgbClr val="F3E2FD">
              <a:alpha val="2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047750" y="9391717"/>
            <a:ext cx="314335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95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 GTM Coaching · Ron Davis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730387" y="9381133"/>
            <a:ext cx="361515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5 · Drive demand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2026-06-09T20:30:09Z</dcterms:created>
  <dcterms:modified xsi:type="dcterms:W3CDTF">2026-06-09T20:30:09Z</dcterms:modified>
</cp:coreProperties>
</file>